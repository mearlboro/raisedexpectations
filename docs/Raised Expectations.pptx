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x="18288000" cy="10287000"/>
  <p:notesSz cx="6858000" cy="9144000"/>
  <p:embeddedFontLst>
    <p:embeddedFont>
      <p:font typeface="Canva Sans Bold" charset="1" panose="020B0803030501040103"/>
      <p:regular r:id="rId21"/>
    </p:embeddedFont>
    <p:embeddedFont>
      <p:font typeface="DM Sans" charset="1" panose="00000000000000000000"/>
      <p:regular r:id="rId22"/>
    </p:embeddedFont>
    <p:embeddedFont>
      <p:font typeface="Readex Pro Semi-Bold" charset="1" panose="00000000000000000000"/>
      <p:regular r:id="rId23"/>
    </p:embeddedFont>
    <p:embeddedFont>
      <p:font typeface="DM Sans Bold" charset="1" panose="00000000000000000000"/>
      <p:regular r:id="rId24"/>
    </p:embeddedFont>
    <p:embeddedFont>
      <p:font typeface="DM Sans Italics" charset="1" panose="00000000000000000000"/>
      <p:regular r:id="rId25"/>
    </p:embeddedFont>
    <p:embeddedFont>
      <p:font typeface="Canva Sans" charset="1" panose="020B0503030501040103"/>
      <p:regular r:id="rId26"/>
    </p:embeddedFont>
    <p:embeddedFont>
      <p:font typeface="Canva Sans Italics" charset="1" panose="020B0503030501040103"/>
      <p:regular r:id="rId2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26" Target="fonts/font26.fntdata" Type="http://schemas.openxmlformats.org/officeDocument/2006/relationships/font"/><Relationship Id="rId27" Target="fonts/font27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svg" Type="http://schemas.openxmlformats.org/officeDocument/2006/relationships/image"/><Relationship Id="rId4" Target="../media/image8.png" Type="http://schemas.openxmlformats.org/officeDocument/2006/relationships/image"/><Relationship Id="rId5" Target="../media/image9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svg" Type="http://schemas.openxmlformats.org/officeDocument/2006/relationships/image"/><Relationship Id="rId4" Target="../media/image8.png" Type="http://schemas.openxmlformats.org/officeDocument/2006/relationships/image"/><Relationship Id="rId5" Target="../media/image9.svg" Type="http://schemas.openxmlformats.org/officeDocument/2006/relationships/image"/><Relationship Id="rId6" Target="../media/image10.png" Type="http://schemas.openxmlformats.org/officeDocument/2006/relationships/image"/><Relationship Id="rId7" Target="../media/image11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svg" Type="http://schemas.openxmlformats.org/officeDocument/2006/relationships/image"/><Relationship Id="rId4" Target="../media/image8.png" Type="http://schemas.openxmlformats.org/officeDocument/2006/relationships/image"/><Relationship Id="rId5" Target="../media/image9.svg" Type="http://schemas.openxmlformats.org/officeDocument/2006/relationships/image"/><Relationship Id="rId6" Target="../media/image12.png" Type="http://schemas.openxmlformats.org/officeDocument/2006/relationships/image"/><Relationship Id="rId7" Target="../media/image13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svg" Type="http://schemas.openxmlformats.org/officeDocument/2006/relationships/image"/><Relationship Id="rId4" Target="../media/image8.png" Type="http://schemas.openxmlformats.org/officeDocument/2006/relationships/image"/><Relationship Id="rId5" Target="../media/image9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svg" Type="http://schemas.openxmlformats.org/officeDocument/2006/relationships/image"/><Relationship Id="rId4" Target="../media/image8.png" Type="http://schemas.openxmlformats.org/officeDocument/2006/relationships/image"/><Relationship Id="rId5" Target="../media/image9.svg" Type="http://schemas.openxmlformats.org/officeDocument/2006/relationships/image"/><Relationship Id="rId6" Target="../media/image14.png" Type="http://schemas.openxmlformats.org/officeDocument/2006/relationships/image"/><Relationship Id="rId7" Target="../media/image15.png" Type="http://schemas.openxmlformats.org/officeDocument/2006/relationships/image"/><Relationship Id="rId8" Target="../media/image16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svg" Type="http://schemas.openxmlformats.org/officeDocument/2006/relationships/image"/><Relationship Id="rId4" Target="../media/image8.png" Type="http://schemas.openxmlformats.org/officeDocument/2006/relationships/image"/><Relationship Id="rId5" Target="../media/image9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svg" Type="http://schemas.openxmlformats.org/officeDocument/2006/relationships/image"/><Relationship Id="rId4" Target="../media/image8.png" Type="http://schemas.openxmlformats.org/officeDocument/2006/relationships/image"/><Relationship Id="rId5" Target="../media/image9.svg" Type="http://schemas.openxmlformats.org/officeDocument/2006/relationships/image"/><Relationship Id="rId6" Target="../media/image17.jpeg" Type="http://schemas.openxmlformats.org/officeDocument/2006/relationships/image"/><Relationship Id="rId7" Target="../media/image18.jpe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svg" Type="http://schemas.openxmlformats.org/officeDocument/2006/relationships/image"/><Relationship Id="rId4" Target="../media/image8.png" Type="http://schemas.openxmlformats.org/officeDocument/2006/relationships/image"/><Relationship Id="rId5" Target="../media/image9.svg" Type="http://schemas.openxmlformats.org/officeDocument/2006/relationships/image"/><Relationship Id="rId6" Target="../media/image19.jpeg" Type="http://schemas.openxmlformats.org/officeDocument/2006/relationships/image"/><Relationship Id="rId7" Target="../media/image20.jpe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svg" Type="http://schemas.openxmlformats.org/officeDocument/2006/relationships/image"/><Relationship Id="rId4" Target="../media/image8.png" Type="http://schemas.openxmlformats.org/officeDocument/2006/relationships/image"/><Relationship Id="rId5" Target="../media/image9.svg" Type="http://schemas.openxmlformats.org/officeDocument/2006/relationships/image"/><Relationship Id="rId6" Target="../media/image21.jpeg" Type="http://schemas.openxmlformats.org/officeDocument/2006/relationships/image"/><Relationship Id="rId7" Target="../media/image22.jpeg" Type="http://schemas.openxmlformats.org/officeDocument/2006/relationships/image"/><Relationship Id="rId8" Target="../media/image23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svg" Type="http://schemas.openxmlformats.org/officeDocument/2006/relationships/image"/><Relationship Id="rId4" Target="../media/image8.png" Type="http://schemas.openxmlformats.org/officeDocument/2006/relationships/image"/><Relationship Id="rId5" Target="../media/image9.svg" Type="http://schemas.openxmlformats.org/officeDocument/2006/relationships/image"/><Relationship Id="rId6" Target="../media/image24.jpeg" Type="http://schemas.openxmlformats.org/officeDocument/2006/relationships/image"/><Relationship Id="rId7" Target="../media/image25.jpe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svg" Type="http://schemas.openxmlformats.org/officeDocument/2006/relationships/image"/><Relationship Id="rId4" Target="../media/image8.png" Type="http://schemas.openxmlformats.org/officeDocument/2006/relationships/image"/><Relationship Id="rId5" Target="../media/image9.sv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svg" Type="http://schemas.openxmlformats.org/officeDocument/2006/relationships/image"/><Relationship Id="rId4" Target="../media/image8.png" Type="http://schemas.openxmlformats.org/officeDocument/2006/relationships/image"/><Relationship Id="rId5" Target="../media/image9.sv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svg" Type="http://schemas.openxmlformats.org/officeDocument/2006/relationships/image"/><Relationship Id="rId4" Target="../media/image8.png" Type="http://schemas.openxmlformats.org/officeDocument/2006/relationships/image"/><Relationship Id="rId5" Target="../media/image9.sv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svg" Type="http://schemas.openxmlformats.org/officeDocument/2006/relationships/image"/><Relationship Id="rId4" Target="../media/image8.png" Type="http://schemas.openxmlformats.org/officeDocument/2006/relationships/image"/><Relationship Id="rId5" Target="../media/image9.svg" Type="http://schemas.openxmlformats.org/officeDocument/2006/relationships/image"/><Relationship Id="rId6" Target="../media/image1.jpeg" Type="http://schemas.openxmlformats.org/officeDocument/2006/relationships/image"/><Relationship Id="rId7" Target="../media/image2.png" Type="http://schemas.openxmlformats.org/officeDocument/2006/relationships/image"/><Relationship Id="rId8" Target="../media/image3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C8D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811306" y="3767459"/>
            <a:ext cx="11506423" cy="15665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 b="tru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Raised Expectations</a:t>
            </a:r>
          </a:p>
        </p:txBody>
      </p:sp>
      <p:sp>
        <p:nvSpPr>
          <p:cNvPr name="AutoShape 3" id="3"/>
          <p:cNvSpPr/>
          <p:nvPr/>
        </p:nvSpPr>
        <p:spPr>
          <a:xfrm>
            <a:off x="3619973" y="4755518"/>
            <a:ext cx="4142529" cy="0"/>
          </a:xfrm>
          <a:prstGeom prst="line">
            <a:avLst/>
          </a:prstGeom>
          <a:ln cap="flat" w="238125">
            <a:solidFill>
              <a:srgbClr val="F9C2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4" id="4"/>
          <p:cNvSpPr/>
          <p:nvPr/>
        </p:nvSpPr>
        <p:spPr>
          <a:xfrm flipH="false" flipV="false" rot="0">
            <a:off x="13484315" y="5998854"/>
            <a:ext cx="3667052" cy="3667052"/>
          </a:xfrm>
          <a:custGeom>
            <a:avLst/>
            <a:gdLst/>
            <a:ahLst/>
            <a:cxnLst/>
            <a:rect r="r" b="b" t="t" l="l"/>
            <a:pathLst>
              <a:path h="3667052" w="3667052">
                <a:moveTo>
                  <a:pt x="0" y="0"/>
                </a:moveTo>
                <a:lnTo>
                  <a:pt x="3667052" y="0"/>
                </a:lnTo>
                <a:lnTo>
                  <a:pt x="3667052" y="3667052"/>
                </a:lnTo>
                <a:lnTo>
                  <a:pt x="0" y="366705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false" rot="-6103867">
            <a:off x="10916985" y="5178373"/>
            <a:ext cx="1970975" cy="3514599"/>
          </a:xfrm>
          <a:custGeom>
            <a:avLst/>
            <a:gdLst/>
            <a:ahLst/>
            <a:cxnLst/>
            <a:rect r="r" b="b" t="t" l="l"/>
            <a:pathLst>
              <a:path h="3514599" w="1970975">
                <a:moveTo>
                  <a:pt x="1970975" y="0"/>
                </a:moveTo>
                <a:lnTo>
                  <a:pt x="0" y="0"/>
                </a:lnTo>
                <a:lnTo>
                  <a:pt x="0" y="3514598"/>
                </a:lnTo>
                <a:lnTo>
                  <a:pt x="1970975" y="3514598"/>
                </a:lnTo>
                <a:lnTo>
                  <a:pt x="197097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1552928" y="8181704"/>
            <a:ext cx="699089" cy="666041"/>
          </a:xfrm>
          <a:custGeom>
            <a:avLst/>
            <a:gdLst/>
            <a:ahLst/>
            <a:cxnLst/>
            <a:rect r="r" b="b" t="t" l="l"/>
            <a:pathLst>
              <a:path h="666041" w="699089">
                <a:moveTo>
                  <a:pt x="0" y="0"/>
                </a:moveTo>
                <a:lnTo>
                  <a:pt x="699089" y="0"/>
                </a:lnTo>
                <a:lnTo>
                  <a:pt x="699089" y="666042"/>
                </a:lnTo>
                <a:lnTo>
                  <a:pt x="0" y="66604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401165" y="4917089"/>
            <a:ext cx="7361337" cy="15665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 b="tru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Manage your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432111" y="8191193"/>
            <a:ext cx="2827437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our repository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014412" y="5143500"/>
            <a:ext cx="5448300" cy="5448300"/>
          </a:xfrm>
          <a:custGeom>
            <a:avLst/>
            <a:gdLst/>
            <a:ahLst/>
            <a:cxnLst/>
            <a:rect r="r" b="b" t="t" l="l"/>
            <a:pathLst>
              <a:path h="5448300" w="5448300">
                <a:moveTo>
                  <a:pt x="0" y="0"/>
                </a:moveTo>
                <a:lnTo>
                  <a:pt x="5448300" y="0"/>
                </a:lnTo>
                <a:lnTo>
                  <a:pt x="5448300" y="5448300"/>
                </a:lnTo>
                <a:lnTo>
                  <a:pt x="0" y="54483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true" rot="0">
            <a:off x="13854112" y="-304800"/>
            <a:ext cx="5448300" cy="5448300"/>
          </a:xfrm>
          <a:custGeom>
            <a:avLst/>
            <a:gdLst/>
            <a:ahLst/>
            <a:cxnLst/>
            <a:rect r="r" b="b" t="t" l="l"/>
            <a:pathLst>
              <a:path h="5448300" w="5448300">
                <a:moveTo>
                  <a:pt x="5448300" y="5448300"/>
                </a:moveTo>
                <a:lnTo>
                  <a:pt x="0" y="5448300"/>
                </a:lnTo>
                <a:lnTo>
                  <a:pt x="0" y="0"/>
                </a:lnTo>
                <a:lnTo>
                  <a:pt x="5448300" y="0"/>
                </a:lnTo>
                <a:lnTo>
                  <a:pt x="5448300" y="54483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610206" y="604765"/>
            <a:ext cx="836989" cy="2209944"/>
          </a:xfrm>
          <a:custGeom>
            <a:avLst/>
            <a:gdLst/>
            <a:ahLst/>
            <a:cxnLst/>
            <a:rect r="r" b="b" t="t" l="l"/>
            <a:pathLst>
              <a:path h="2209944" w="836989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6840806" y="7472290"/>
            <a:ext cx="836989" cy="2209944"/>
          </a:xfrm>
          <a:custGeom>
            <a:avLst/>
            <a:gdLst/>
            <a:ahLst/>
            <a:cxnLst/>
            <a:rect r="r" b="b" t="t" l="l"/>
            <a:pathLst>
              <a:path h="2209944" w="836989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969204" y="3481853"/>
            <a:ext cx="12349593" cy="568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99"/>
              </a:lnSpc>
            </a:pPr>
            <a:r>
              <a:rPr lang="en-US" sz="2499">
                <a:solidFill>
                  <a:srgbClr val="002B58"/>
                </a:solidFill>
                <a:latin typeface="DM Sans"/>
                <a:ea typeface="DM Sans"/>
                <a:cs typeface="DM Sans"/>
                <a:sym typeface="DM Sans"/>
              </a:rPr>
              <a:t>The social dynamic examined was interpersonal communication in situations of reduced biomechanical stability, which is both societally and scientifically significant.</a:t>
            </a:r>
          </a:p>
          <a:p>
            <a:pPr algn="just">
              <a:lnSpc>
                <a:spcPts val="3499"/>
              </a:lnSpc>
            </a:pPr>
          </a:p>
          <a:p>
            <a:pPr algn="just">
              <a:lnSpc>
                <a:spcPts val="3499"/>
              </a:lnSpc>
            </a:pPr>
            <a:r>
              <a:rPr lang="en-US" sz="2499">
                <a:solidFill>
                  <a:srgbClr val="002B58"/>
                </a:solidFill>
                <a:latin typeface="DM Sans"/>
                <a:ea typeface="DM Sans"/>
                <a:cs typeface="DM Sans"/>
                <a:sym typeface="DM Sans"/>
              </a:rPr>
              <a:t>Most previous research on aspects of vocal production have been in stable lab environments, often in seated positions (Zsiga, 2014). However, this doesn’t consider that humans are often not stationary. </a:t>
            </a:r>
          </a:p>
          <a:p>
            <a:pPr algn="just">
              <a:lnSpc>
                <a:spcPts val="3499"/>
              </a:lnSpc>
            </a:pPr>
          </a:p>
          <a:p>
            <a:pPr algn="just">
              <a:lnSpc>
                <a:spcPts val="3499"/>
              </a:lnSpc>
            </a:pPr>
            <a:r>
              <a:rPr lang="en-US" sz="2499">
                <a:solidFill>
                  <a:srgbClr val="002B58"/>
                </a:solidFill>
                <a:latin typeface="DM Sans"/>
                <a:ea typeface="DM Sans"/>
                <a:cs typeface="DM Sans"/>
                <a:sym typeface="DM Sans"/>
              </a:rPr>
              <a:t>Movement, such as walking, can have an impact on aspects of the voice, such as pitch and rhythm (e.g., Anikin, 2023; Chiu et al., 2026). </a:t>
            </a:r>
          </a:p>
          <a:p>
            <a:pPr algn="just">
              <a:lnSpc>
                <a:spcPts val="3499"/>
              </a:lnSpc>
            </a:pPr>
            <a:r>
              <a:rPr lang="en-US" sz="2499">
                <a:solidFill>
                  <a:srgbClr val="002B58"/>
                </a:solidFill>
                <a:latin typeface="DM Sans"/>
                <a:ea typeface="DM Sans"/>
                <a:cs typeface="DM Sans"/>
                <a:sym typeface="DM Sans"/>
              </a:rPr>
              <a:t>When the body is moving, several biological mechanisms are employed in order to keep the body upright, with the body’s centre of gravity constantly shifting as the body moves (Tesio &amp; Rota, 2019).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3690340" y="1566862"/>
            <a:ext cx="10907320" cy="1203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800"/>
              </a:lnSpc>
            </a:pPr>
            <a:r>
              <a:rPr lang="en-US" b="true" sz="7000">
                <a:solidFill>
                  <a:srgbClr val="002B58"/>
                </a:solidFill>
                <a:latin typeface="Readex Pro Semi-Bold"/>
                <a:ea typeface="Readex Pro Semi-Bold"/>
                <a:cs typeface="Readex Pro Semi-Bold"/>
                <a:sym typeface="Readex Pro Semi-Bold"/>
              </a:rPr>
              <a:t>RESEARCH FRAMING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014412" y="5143500"/>
            <a:ext cx="5448300" cy="5448300"/>
          </a:xfrm>
          <a:custGeom>
            <a:avLst/>
            <a:gdLst/>
            <a:ahLst/>
            <a:cxnLst/>
            <a:rect r="r" b="b" t="t" l="l"/>
            <a:pathLst>
              <a:path h="5448300" w="5448300">
                <a:moveTo>
                  <a:pt x="0" y="0"/>
                </a:moveTo>
                <a:lnTo>
                  <a:pt x="5448300" y="0"/>
                </a:lnTo>
                <a:lnTo>
                  <a:pt x="5448300" y="5448300"/>
                </a:lnTo>
                <a:lnTo>
                  <a:pt x="0" y="54483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true" rot="0">
            <a:off x="13854112" y="-304800"/>
            <a:ext cx="5448300" cy="5448300"/>
          </a:xfrm>
          <a:custGeom>
            <a:avLst/>
            <a:gdLst/>
            <a:ahLst/>
            <a:cxnLst/>
            <a:rect r="r" b="b" t="t" l="l"/>
            <a:pathLst>
              <a:path h="5448300" w="5448300">
                <a:moveTo>
                  <a:pt x="5448300" y="5448300"/>
                </a:moveTo>
                <a:lnTo>
                  <a:pt x="0" y="5448300"/>
                </a:lnTo>
                <a:lnTo>
                  <a:pt x="0" y="0"/>
                </a:lnTo>
                <a:lnTo>
                  <a:pt x="5448300" y="0"/>
                </a:lnTo>
                <a:lnTo>
                  <a:pt x="5448300" y="54483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610206" y="604765"/>
            <a:ext cx="836989" cy="2209944"/>
          </a:xfrm>
          <a:custGeom>
            <a:avLst/>
            <a:gdLst/>
            <a:ahLst/>
            <a:cxnLst/>
            <a:rect r="r" b="b" t="t" l="l"/>
            <a:pathLst>
              <a:path h="2209944" w="836989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6840806" y="7472290"/>
            <a:ext cx="836989" cy="2209944"/>
          </a:xfrm>
          <a:custGeom>
            <a:avLst/>
            <a:gdLst/>
            <a:ahLst/>
            <a:cxnLst/>
            <a:rect r="r" b="b" t="t" l="l"/>
            <a:pathLst>
              <a:path h="2209944" w="836989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969204" y="3481853"/>
            <a:ext cx="12349593" cy="699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99"/>
              </a:lnSpc>
            </a:pPr>
            <a:r>
              <a:rPr lang="en-US" sz="2499">
                <a:solidFill>
                  <a:srgbClr val="002B58"/>
                </a:solidFill>
                <a:latin typeface="DM Sans"/>
                <a:ea typeface="DM Sans"/>
                <a:cs typeface="DM Sans"/>
                <a:sym typeface="DM Sans"/>
              </a:rPr>
              <a:t>In English, pitch plays important prosodic signalling functions at both the word level (e.g. stress) and the sentence level (e.g. intonation and information structure).  </a:t>
            </a:r>
          </a:p>
          <a:p>
            <a:pPr algn="just">
              <a:lnSpc>
                <a:spcPts val="3499"/>
              </a:lnSpc>
            </a:pPr>
          </a:p>
          <a:p>
            <a:pPr algn="just">
              <a:lnSpc>
                <a:spcPts val="3499"/>
              </a:lnSpc>
            </a:pPr>
            <a:r>
              <a:rPr lang="en-US" sz="2499">
                <a:solidFill>
                  <a:srgbClr val="002B58"/>
                </a:solidFill>
                <a:latin typeface="DM Sans"/>
                <a:ea typeface="DM Sans"/>
                <a:cs typeface="DM Sans"/>
                <a:sym typeface="DM Sans"/>
              </a:rPr>
              <a:t>There is evidence that eyebrow raises may serve a similar prosodic function in the visual domain, marking prominence and conveying communicative functions such as turn-taking (Cavé, Guaïtella &amp; Santi, 2002). </a:t>
            </a:r>
          </a:p>
          <a:p>
            <a:pPr algn="just">
              <a:lnSpc>
                <a:spcPts val="3499"/>
              </a:lnSpc>
            </a:pPr>
          </a:p>
          <a:p>
            <a:pPr algn="just">
              <a:lnSpc>
                <a:spcPts val="3499"/>
              </a:lnSpc>
            </a:pPr>
            <a:r>
              <a:rPr lang="en-US" sz="2499">
                <a:solidFill>
                  <a:srgbClr val="002B58"/>
                </a:solidFill>
                <a:latin typeface="DM Sans"/>
                <a:ea typeface="DM Sans"/>
                <a:cs typeface="DM Sans"/>
                <a:sym typeface="DM Sans"/>
              </a:rPr>
              <a:t>Perception research suggests that when pitch information provides conflicting cues to prominence, people will use eyebrow information to infer the location of prominence (Krahmer et al., 2002).</a:t>
            </a:r>
          </a:p>
          <a:p>
            <a:pPr algn="just">
              <a:lnSpc>
                <a:spcPts val="3499"/>
              </a:lnSpc>
            </a:pPr>
          </a:p>
          <a:p>
            <a:pPr algn="just">
              <a:lnSpc>
                <a:spcPts val="3499"/>
              </a:lnSpc>
            </a:pPr>
            <a:r>
              <a:rPr lang="en-US" sz="2499">
                <a:solidFill>
                  <a:srgbClr val="002B58"/>
                </a:solidFill>
                <a:latin typeface="DM Sans"/>
                <a:ea typeface="DM Sans"/>
                <a:cs typeface="DM Sans"/>
                <a:sym typeface="DM Sans"/>
              </a:rPr>
              <a:t>Still unclear exactly how well coordinated pitch and eyebrow movements are, and how eyebrow movements may coordinate between interlocutors. </a:t>
            </a:r>
          </a:p>
          <a:p>
            <a:pPr algn="just">
              <a:lnSpc>
                <a:spcPts val="3499"/>
              </a:lnSpc>
            </a:pPr>
          </a:p>
          <a:p>
            <a:pPr algn="just">
              <a:lnSpc>
                <a:spcPts val="3499"/>
              </a:lnSpc>
            </a:pPr>
          </a:p>
          <a:p>
            <a:pPr algn="just">
              <a:lnSpc>
                <a:spcPts val="3499"/>
              </a:lnSpc>
            </a:pP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10792406" y="1709738"/>
            <a:ext cx="4926440" cy="835030"/>
          </a:xfrm>
          <a:custGeom>
            <a:avLst/>
            <a:gdLst/>
            <a:ahLst/>
            <a:cxnLst/>
            <a:rect r="r" b="b" t="t" l="l"/>
            <a:pathLst>
              <a:path h="835030" w="4926440">
                <a:moveTo>
                  <a:pt x="0" y="0"/>
                </a:moveTo>
                <a:lnTo>
                  <a:pt x="4926440" y="0"/>
                </a:lnTo>
                <a:lnTo>
                  <a:pt x="4926440" y="835030"/>
                </a:lnTo>
                <a:lnTo>
                  <a:pt x="0" y="83503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610206" y="705252"/>
            <a:ext cx="10907320" cy="2441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800"/>
              </a:lnSpc>
            </a:pPr>
            <a:r>
              <a:rPr lang="en-US" b="true" sz="7000">
                <a:solidFill>
                  <a:srgbClr val="002B58"/>
                </a:solidFill>
                <a:latin typeface="Readex Pro Semi-Bold"/>
                <a:ea typeface="Readex Pro Semi-Bold"/>
                <a:cs typeface="Readex Pro Semi-Bold"/>
                <a:sym typeface="Readex Pro Semi-Bold"/>
              </a:rPr>
              <a:t>WHY PITCH AND EYEBROWS?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true" rot="0">
            <a:off x="-1014412" y="-304800"/>
            <a:ext cx="5448300" cy="5448300"/>
          </a:xfrm>
          <a:custGeom>
            <a:avLst/>
            <a:gdLst/>
            <a:ahLst/>
            <a:cxnLst/>
            <a:rect r="r" b="b" t="t" l="l"/>
            <a:pathLst>
              <a:path h="5448300" w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13854112" y="5143500"/>
            <a:ext cx="5448300" cy="5448300"/>
          </a:xfrm>
          <a:custGeom>
            <a:avLst/>
            <a:gdLst/>
            <a:ahLst/>
            <a:cxnLst/>
            <a:rect r="r" b="b" t="t" l="l"/>
            <a:pathLst>
              <a:path h="5448300" w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610206" y="7472290"/>
            <a:ext cx="836989" cy="2209944"/>
          </a:xfrm>
          <a:custGeom>
            <a:avLst/>
            <a:gdLst/>
            <a:ahLst/>
            <a:cxnLst/>
            <a:rect r="r" b="b" t="t" l="l"/>
            <a:pathLst>
              <a:path h="2209944" w="836989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6840806" y="604765"/>
            <a:ext cx="836989" cy="2209944"/>
          </a:xfrm>
          <a:custGeom>
            <a:avLst/>
            <a:gdLst/>
            <a:ahLst/>
            <a:cxnLst/>
            <a:rect r="r" b="b" t="t" l="l"/>
            <a:pathLst>
              <a:path h="2209944" w="836989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2825623" y="4369462"/>
            <a:ext cx="817798" cy="908664"/>
          </a:xfrm>
          <a:custGeom>
            <a:avLst/>
            <a:gdLst/>
            <a:ahLst/>
            <a:cxnLst/>
            <a:rect r="r" b="b" t="t" l="l"/>
            <a:pathLst>
              <a:path h="908664" w="817798">
                <a:moveTo>
                  <a:pt x="0" y="0"/>
                </a:moveTo>
                <a:lnTo>
                  <a:pt x="817798" y="0"/>
                </a:lnTo>
                <a:lnTo>
                  <a:pt x="817798" y="908664"/>
                </a:lnTo>
                <a:lnTo>
                  <a:pt x="0" y="90866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3993847" y="4150694"/>
            <a:ext cx="11468530" cy="129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99"/>
              </a:lnSpc>
            </a:pPr>
            <a:r>
              <a:rPr lang="en-US" sz="2499">
                <a:solidFill>
                  <a:srgbClr val="002B58"/>
                </a:solidFill>
                <a:latin typeface="DM Sans"/>
                <a:ea typeface="DM Sans"/>
                <a:cs typeface="DM Sans"/>
                <a:sym typeface="DM Sans"/>
              </a:rPr>
              <a:t>Q1:  What is the relationship between pitch and eyebrow movements?</a:t>
            </a:r>
          </a:p>
          <a:p>
            <a:pPr algn="just">
              <a:lnSpc>
                <a:spcPts val="3499"/>
              </a:lnSpc>
            </a:pPr>
            <a:r>
              <a:rPr lang="en-US" sz="2499">
                <a:solidFill>
                  <a:srgbClr val="002B58"/>
                </a:solidFill>
                <a:latin typeface="DM Sans"/>
                <a:ea typeface="DM Sans"/>
                <a:cs typeface="DM Sans"/>
                <a:sym typeface="DM Sans"/>
              </a:rPr>
              <a:t>Q1.2: How does this relationship change, if at all, when the bodily center of gravity is perturbed?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3690340" y="2380057"/>
            <a:ext cx="10907320" cy="1193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799"/>
              </a:lnSpc>
            </a:pPr>
            <a:r>
              <a:rPr lang="en-US" b="true" sz="6999">
                <a:solidFill>
                  <a:srgbClr val="002B58"/>
                </a:solidFill>
                <a:latin typeface="Readex Pro Semi-Bold"/>
                <a:ea typeface="Readex Pro Semi-Bold"/>
                <a:cs typeface="Readex Pro Semi-Bold"/>
                <a:sym typeface="Readex Pro Semi-Bold"/>
              </a:rPr>
              <a:t>RESEARCH QUESTIONS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2825623" y="6563626"/>
            <a:ext cx="817798" cy="908664"/>
          </a:xfrm>
          <a:custGeom>
            <a:avLst/>
            <a:gdLst/>
            <a:ahLst/>
            <a:cxnLst/>
            <a:rect r="r" b="b" t="t" l="l"/>
            <a:pathLst>
              <a:path h="908664" w="817798">
                <a:moveTo>
                  <a:pt x="0" y="0"/>
                </a:moveTo>
                <a:lnTo>
                  <a:pt x="817798" y="0"/>
                </a:lnTo>
                <a:lnTo>
                  <a:pt x="817798" y="908664"/>
                </a:lnTo>
                <a:lnTo>
                  <a:pt x="0" y="90866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3993847" y="6130925"/>
            <a:ext cx="11468530" cy="173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99"/>
              </a:lnSpc>
            </a:pPr>
            <a:r>
              <a:rPr lang="en-US" sz="2499">
                <a:solidFill>
                  <a:srgbClr val="002B58"/>
                </a:solidFill>
                <a:latin typeface="DM Sans"/>
                <a:ea typeface="DM Sans"/>
                <a:cs typeface="DM Sans"/>
                <a:sym typeface="DM Sans"/>
              </a:rPr>
              <a:t>RQ2: What is the nature of the eyebrow synchrony between the clue giver and guesser?</a:t>
            </a:r>
          </a:p>
          <a:p>
            <a:pPr algn="just">
              <a:lnSpc>
                <a:spcPts val="3499"/>
              </a:lnSpc>
            </a:pPr>
            <a:r>
              <a:rPr lang="en-US" sz="2499">
                <a:solidFill>
                  <a:srgbClr val="002B58"/>
                </a:solidFill>
                <a:latin typeface="DM Sans"/>
                <a:ea typeface="DM Sans"/>
                <a:cs typeface="DM Sans"/>
                <a:sym typeface="DM Sans"/>
              </a:rPr>
              <a:t>RQ2.2: How is this changed, if at all, when the bodily centre of gravity is perturbed?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true" rot="0">
            <a:off x="-1014412" y="-304800"/>
            <a:ext cx="5448300" cy="5448300"/>
          </a:xfrm>
          <a:custGeom>
            <a:avLst/>
            <a:gdLst/>
            <a:ahLst/>
            <a:cxnLst/>
            <a:rect r="r" b="b" t="t" l="l"/>
            <a:pathLst>
              <a:path h="5448300" w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13854112" y="5143500"/>
            <a:ext cx="5448300" cy="5448300"/>
          </a:xfrm>
          <a:custGeom>
            <a:avLst/>
            <a:gdLst/>
            <a:ahLst/>
            <a:cxnLst/>
            <a:rect r="r" b="b" t="t" l="l"/>
            <a:pathLst>
              <a:path h="5448300" w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610206" y="7472290"/>
            <a:ext cx="836989" cy="2209944"/>
          </a:xfrm>
          <a:custGeom>
            <a:avLst/>
            <a:gdLst/>
            <a:ahLst/>
            <a:cxnLst/>
            <a:rect r="r" b="b" t="t" l="l"/>
            <a:pathLst>
              <a:path h="2209944" w="836989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6840806" y="604765"/>
            <a:ext cx="836989" cy="2209944"/>
          </a:xfrm>
          <a:custGeom>
            <a:avLst/>
            <a:gdLst/>
            <a:ahLst/>
            <a:cxnLst/>
            <a:rect r="r" b="b" t="t" l="l"/>
            <a:pathLst>
              <a:path h="2209944" w="836989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2969204" y="3618751"/>
            <a:ext cx="12349593" cy="1057096"/>
            <a:chOff x="0" y="0"/>
            <a:chExt cx="3252568" cy="27841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252568" cy="278412"/>
            </a:xfrm>
            <a:custGeom>
              <a:avLst/>
              <a:gdLst/>
              <a:ahLst/>
              <a:cxnLst/>
              <a:rect r="r" b="b" t="t" l="l"/>
              <a:pathLst>
                <a:path h="278412" w="3252568">
                  <a:moveTo>
                    <a:pt x="0" y="0"/>
                  </a:moveTo>
                  <a:lnTo>
                    <a:pt x="3252568" y="0"/>
                  </a:lnTo>
                  <a:lnTo>
                    <a:pt x="3252568" y="278412"/>
                  </a:lnTo>
                  <a:lnTo>
                    <a:pt x="0" y="278412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3252568" cy="31651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2969204" y="4990172"/>
            <a:ext cx="12349593" cy="1344299"/>
            <a:chOff x="0" y="0"/>
            <a:chExt cx="3252568" cy="354054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3252568" cy="354054"/>
            </a:xfrm>
            <a:custGeom>
              <a:avLst/>
              <a:gdLst/>
              <a:ahLst/>
              <a:cxnLst/>
              <a:rect r="r" b="b" t="t" l="l"/>
              <a:pathLst>
                <a:path h="354054" w="3252568">
                  <a:moveTo>
                    <a:pt x="0" y="0"/>
                  </a:moveTo>
                  <a:lnTo>
                    <a:pt x="3252568" y="0"/>
                  </a:lnTo>
                  <a:lnTo>
                    <a:pt x="3252568" y="354054"/>
                  </a:lnTo>
                  <a:lnTo>
                    <a:pt x="0" y="35405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3252568" cy="39215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2969204" y="6672948"/>
            <a:ext cx="12349593" cy="1523405"/>
            <a:chOff x="0" y="0"/>
            <a:chExt cx="3252568" cy="40122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3252568" cy="401226"/>
            </a:xfrm>
            <a:custGeom>
              <a:avLst/>
              <a:gdLst/>
              <a:ahLst/>
              <a:cxnLst/>
              <a:rect r="r" b="b" t="t" l="l"/>
              <a:pathLst>
                <a:path h="401226" w="3252568">
                  <a:moveTo>
                    <a:pt x="0" y="0"/>
                  </a:moveTo>
                  <a:lnTo>
                    <a:pt x="3252568" y="0"/>
                  </a:lnTo>
                  <a:lnTo>
                    <a:pt x="3252568" y="401226"/>
                  </a:lnTo>
                  <a:lnTo>
                    <a:pt x="0" y="401226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3252568" cy="43932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3409735" y="3674071"/>
            <a:ext cx="11468530" cy="4365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539749" indent="-269875" lvl="1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2B58"/>
                </a:solidFill>
                <a:latin typeface="DM Sans"/>
                <a:ea typeface="DM Sans"/>
                <a:cs typeface="DM Sans"/>
                <a:sym typeface="DM Sans"/>
              </a:rPr>
              <a:t>Raised eyebrows are associated with higher pitch in the clue-giver when they are standing on the ground.</a:t>
            </a:r>
          </a:p>
          <a:p>
            <a:pPr algn="just">
              <a:lnSpc>
                <a:spcPts val="3499"/>
              </a:lnSpc>
            </a:pPr>
          </a:p>
          <a:p>
            <a:pPr algn="just" marL="539749" indent="-269875" lvl="1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2B58"/>
                </a:solidFill>
                <a:latin typeface="DM Sans"/>
                <a:ea typeface="DM Sans"/>
                <a:cs typeface="DM Sans"/>
                <a:sym typeface="DM Sans"/>
              </a:rPr>
              <a:t>Under increased postural stability demands (the clue-giver is standing on the wobble board), the co-variation between eyebrow movement and pitch dynamics is distorted.</a:t>
            </a:r>
          </a:p>
          <a:p>
            <a:pPr algn="just">
              <a:lnSpc>
                <a:spcPts val="3499"/>
              </a:lnSpc>
            </a:pPr>
          </a:p>
          <a:p>
            <a:pPr algn="just" marL="539749" indent="-269875" lvl="1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2B58"/>
                </a:solidFill>
                <a:latin typeface="DM Sans"/>
                <a:ea typeface="DM Sans"/>
                <a:cs typeface="DM Sans"/>
                <a:sym typeface="DM Sans"/>
              </a:rPr>
              <a:t>Higher mutual information in eyebrow movements between the clue giver and the guesser is associated with faster guessing times (higher task performance).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3690340" y="2113954"/>
            <a:ext cx="10907320" cy="1193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799"/>
              </a:lnSpc>
            </a:pPr>
            <a:r>
              <a:rPr lang="en-US" b="true" sz="6999">
                <a:solidFill>
                  <a:srgbClr val="002B58"/>
                </a:solidFill>
                <a:latin typeface="Readex Pro Semi-Bold"/>
                <a:ea typeface="Readex Pro Semi-Bold"/>
                <a:cs typeface="Readex Pro Semi-Bold"/>
                <a:sym typeface="Readex Pro Semi-Bold"/>
              </a:rPr>
              <a:t>HYPOTHESES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true" rot="0">
            <a:off x="-1014412" y="-304800"/>
            <a:ext cx="5448300" cy="5448300"/>
          </a:xfrm>
          <a:custGeom>
            <a:avLst/>
            <a:gdLst/>
            <a:ahLst/>
            <a:cxnLst/>
            <a:rect r="r" b="b" t="t" l="l"/>
            <a:pathLst>
              <a:path h="5448300" w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13854112" y="5143500"/>
            <a:ext cx="5448300" cy="5448300"/>
          </a:xfrm>
          <a:custGeom>
            <a:avLst/>
            <a:gdLst/>
            <a:ahLst/>
            <a:cxnLst/>
            <a:rect r="r" b="b" t="t" l="l"/>
            <a:pathLst>
              <a:path h="5448300" w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6840806" y="604765"/>
            <a:ext cx="836989" cy="2209944"/>
          </a:xfrm>
          <a:custGeom>
            <a:avLst/>
            <a:gdLst/>
            <a:ahLst/>
            <a:cxnLst/>
            <a:rect r="r" b="b" t="t" l="l"/>
            <a:pathLst>
              <a:path h="2209944" w="836989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2969204" y="2135460"/>
            <a:ext cx="12349593" cy="1213752"/>
            <a:chOff x="0" y="0"/>
            <a:chExt cx="3252568" cy="31967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252568" cy="319671"/>
            </a:xfrm>
            <a:custGeom>
              <a:avLst/>
              <a:gdLst/>
              <a:ahLst/>
              <a:cxnLst/>
              <a:rect r="r" b="b" t="t" l="l"/>
              <a:pathLst>
                <a:path h="319671" w="3252568">
                  <a:moveTo>
                    <a:pt x="0" y="0"/>
                  </a:moveTo>
                  <a:lnTo>
                    <a:pt x="3252568" y="0"/>
                  </a:lnTo>
                  <a:lnTo>
                    <a:pt x="3252568" y="319671"/>
                  </a:lnTo>
                  <a:lnTo>
                    <a:pt x="0" y="319671"/>
                  </a:lnTo>
                  <a:close/>
                </a:path>
              </a:pathLst>
            </a:custGeom>
            <a:solidFill>
              <a:srgbClr val="F9C200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3252568" cy="35777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1028700" y="5754549"/>
            <a:ext cx="2013154" cy="483157"/>
          </a:xfrm>
          <a:custGeom>
            <a:avLst/>
            <a:gdLst/>
            <a:ahLst/>
            <a:cxnLst/>
            <a:rect r="r" b="b" t="t" l="l"/>
            <a:pathLst>
              <a:path h="483157" w="2013154">
                <a:moveTo>
                  <a:pt x="0" y="0"/>
                </a:moveTo>
                <a:lnTo>
                  <a:pt x="2013154" y="0"/>
                </a:lnTo>
                <a:lnTo>
                  <a:pt x="2013154" y="483157"/>
                </a:lnTo>
                <a:lnTo>
                  <a:pt x="0" y="48315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3468213" y="3734145"/>
            <a:ext cx="11850583" cy="5854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358"/>
              </a:lnSpc>
            </a:pPr>
            <a:r>
              <a:rPr lang="en-US" sz="2398">
                <a:solidFill>
                  <a:srgbClr val="002B58"/>
                </a:solidFill>
                <a:latin typeface="DM Sans"/>
                <a:ea typeface="DM Sans"/>
                <a:cs typeface="DM Sans"/>
                <a:sym typeface="DM Sans"/>
              </a:rPr>
              <a:t>Two dyads (f=3, m=1, mean age= 19.5). </a:t>
            </a:r>
          </a:p>
          <a:p>
            <a:pPr algn="just">
              <a:lnSpc>
                <a:spcPts val="3358"/>
              </a:lnSpc>
            </a:pPr>
          </a:p>
          <a:p>
            <a:pPr algn="just">
              <a:lnSpc>
                <a:spcPts val="3358"/>
              </a:lnSpc>
            </a:pPr>
            <a:r>
              <a:rPr lang="en-US" sz="2398">
                <a:solidFill>
                  <a:srgbClr val="002B58"/>
                </a:solidFill>
                <a:latin typeface="DM Sans"/>
                <a:ea typeface="DM Sans"/>
                <a:cs typeface="DM Sans"/>
                <a:sym typeface="DM Sans"/>
              </a:rPr>
              <a:t>One target word (‘Birthday’)</a:t>
            </a:r>
          </a:p>
          <a:p>
            <a:pPr algn="just">
              <a:lnSpc>
                <a:spcPts val="3358"/>
              </a:lnSpc>
            </a:pPr>
          </a:p>
          <a:p>
            <a:pPr algn="just">
              <a:lnSpc>
                <a:spcPts val="3358"/>
              </a:lnSpc>
            </a:pPr>
            <a:r>
              <a:rPr lang="en-US" sz="2398" b="true">
                <a:solidFill>
                  <a:srgbClr val="002B58"/>
                </a:solidFill>
                <a:latin typeface="DM Sans Bold"/>
                <a:ea typeface="DM Sans Bold"/>
                <a:cs typeface="DM Sans Bold"/>
                <a:sym typeface="DM Sans Bold"/>
              </a:rPr>
              <a:t>Eyebrow</a:t>
            </a:r>
            <a:r>
              <a:rPr lang="en-US" sz="2398">
                <a:solidFill>
                  <a:srgbClr val="002B58"/>
                </a:solidFill>
                <a:latin typeface="DM Sans"/>
                <a:ea typeface="DM Sans"/>
                <a:cs typeface="DM Sans"/>
                <a:sym typeface="DM Sans"/>
              </a:rPr>
              <a:t> - OpenFace data extracted from video data. Took the X and Y coordinates for the eyebrows (points 17-26) and the tip of the nose (point 33). Relative positions of points 17-26 as well as y-axis displacement of eyebrow centre of mass from tip of nose. </a:t>
            </a:r>
            <a:r>
              <a:rPr lang="en-US" sz="2398" i="true">
                <a:solidFill>
                  <a:srgbClr val="002B58"/>
                </a:solidFill>
                <a:latin typeface="DM Sans Italics"/>
                <a:ea typeface="DM Sans Italics"/>
                <a:cs typeface="DM Sans Italics"/>
                <a:sym typeface="DM Sans Italics"/>
              </a:rPr>
              <a:t>Both guesser and cluegiver</a:t>
            </a:r>
          </a:p>
          <a:p>
            <a:pPr algn="just">
              <a:lnSpc>
                <a:spcPts val="3358"/>
              </a:lnSpc>
            </a:pPr>
          </a:p>
          <a:p>
            <a:pPr algn="just">
              <a:lnSpc>
                <a:spcPts val="3358"/>
              </a:lnSpc>
            </a:pPr>
            <a:r>
              <a:rPr lang="en-US" sz="2398" b="true">
                <a:solidFill>
                  <a:srgbClr val="002B58"/>
                </a:solidFill>
                <a:latin typeface="DM Sans Bold"/>
                <a:ea typeface="DM Sans Bold"/>
                <a:cs typeface="DM Sans Bold"/>
                <a:sym typeface="DM Sans Bold"/>
              </a:rPr>
              <a:t>Pitch</a:t>
            </a:r>
            <a:r>
              <a:rPr lang="en-US" sz="2398">
                <a:solidFill>
                  <a:srgbClr val="002B58"/>
                </a:solidFill>
                <a:latin typeface="DM Sans"/>
                <a:ea typeface="DM Sans"/>
                <a:cs typeface="DM Sans"/>
                <a:sym typeface="DM Sans"/>
              </a:rPr>
              <a:t> - Extracting fundamental frequency (f0) for audio files using the parselmouth library [@jadoul_etal18]. We used the Diarization data to split the f0 by speaker. This was the manually checked for the examples (for a larger analysis pipeline, we plan to use a multi speaker separation as this would allow potential extraction of pitch information when two speakers are speaking simultaneously. </a:t>
            </a:r>
            <a:r>
              <a:rPr lang="en-US" sz="2398" i="true">
                <a:solidFill>
                  <a:srgbClr val="002B58"/>
                </a:solidFill>
                <a:latin typeface="DM Sans Italics"/>
                <a:ea typeface="DM Sans Italics"/>
                <a:cs typeface="DM Sans Italics"/>
                <a:sym typeface="DM Sans Italics"/>
              </a:rPr>
              <a:t>Cluegiver only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956050" y="7617354"/>
            <a:ext cx="2013154" cy="866124"/>
          </a:xfrm>
          <a:custGeom>
            <a:avLst/>
            <a:gdLst/>
            <a:ahLst/>
            <a:cxnLst/>
            <a:rect r="r" b="b" t="t" l="l"/>
            <a:pathLst>
              <a:path h="866124" w="2013154">
                <a:moveTo>
                  <a:pt x="0" y="0"/>
                </a:moveTo>
                <a:lnTo>
                  <a:pt x="2013154" y="0"/>
                </a:lnTo>
                <a:lnTo>
                  <a:pt x="2013154" y="866124"/>
                </a:lnTo>
                <a:lnTo>
                  <a:pt x="0" y="86612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3690340" y="499577"/>
            <a:ext cx="10907320" cy="1203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800"/>
              </a:lnSpc>
            </a:pPr>
            <a:r>
              <a:rPr lang="en-US" b="true" sz="7000">
                <a:solidFill>
                  <a:srgbClr val="002B58"/>
                </a:solidFill>
                <a:latin typeface="Readex Pro Semi-Bold"/>
                <a:ea typeface="Readex Pro Semi-Bold"/>
                <a:cs typeface="Readex Pro Semi-Bold"/>
                <a:sym typeface="Readex Pro Semi-Bold"/>
              </a:rPr>
              <a:t>METHODOLOGY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3318566" y="2092045"/>
            <a:ext cx="11650868" cy="936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99"/>
              </a:lnSpc>
            </a:pPr>
            <a:r>
              <a:rPr lang="en-US" b="true" sz="5499">
                <a:solidFill>
                  <a:srgbClr val="002B58"/>
                </a:solidFill>
                <a:latin typeface="Readex Pro Semi-Bold"/>
                <a:ea typeface="Readex Pro Semi-Bold"/>
                <a:cs typeface="Readex Pro Semi-Bold"/>
                <a:sym typeface="Readex Pro Semi-Bold"/>
              </a:rPr>
              <a:t>BALANCE DATASET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7890203" y="2908648"/>
            <a:ext cx="2089845" cy="3492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b="true" sz="2000">
                <a:solidFill>
                  <a:srgbClr val="002B58"/>
                </a:solidFill>
                <a:latin typeface="Readex Pro Semi-Bold"/>
                <a:ea typeface="Readex Pro Semi-Bold"/>
                <a:cs typeface="Readex Pro Semi-Bold"/>
                <a:sym typeface="Readex Pro Semi-Bold"/>
              </a:rPr>
              <a:t>(LI</a:t>
            </a:r>
            <a:r>
              <a:rPr lang="en-US" b="true" sz="2000">
                <a:solidFill>
                  <a:srgbClr val="002B58"/>
                </a:solidFill>
                <a:latin typeface="Readex Pro Semi-Bold"/>
                <a:ea typeface="Readex Pro Semi-Bold"/>
                <a:cs typeface="Readex Pro Semi-Bold"/>
                <a:sym typeface="Readex Pro Semi-Bold"/>
              </a:rPr>
              <a:t> ET AL., 2026)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true" rot="0">
            <a:off x="-1014412" y="-304800"/>
            <a:ext cx="5448300" cy="5448300"/>
          </a:xfrm>
          <a:custGeom>
            <a:avLst/>
            <a:gdLst/>
            <a:ahLst/>
            <a:cxnLst/>
            <a:rect r="r" b="b" t="t" l="l"/>
            <a:pathLst>
              <a:path h="5448300" w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2708110" y="4662760"/>
            <a:ext cx="12845671" cy="1174585"/>
            <a:chOff x="0" y="0"/>
            <a:chExt cx="3383222" cy="30935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83222" cy="309356"/>
            </a:xfrm>
            <a:custGeom>
              <a:avLst/>
              <a:gdLst/>
              <a:ahLst/>
              <a:cxnLst/>
              <a:rect r="r" b="b" t="t" l="l"/>
              <a:pathLst>
                <a:path h="309356" w="3383222">
                  <a:moveTo>
                    <a:pt x="0" y="0"/>
                  </a:moveTo>
                  <a:lnTo>
                    <a:pt x="3383222" y="0"/>
                  </a:lnTo>
                  <a:lnTo>
                    <a:pt x="3383222" y="309356"/>
                  </a:lnTo>
                  <a:lnTo>
                    <a:pt x="0" y="309356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3383222" cy="3474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true" flipV="false" rot="0">
            <a:off x="13854112" y="5143500"/>
            <a:ext cx="5448300" cy="5448300"/>
          </a:xfrm>
          <a:custGeom>
            <a:avLst/>
            <a:gdLst/>
            <a:ahLst/>
            <a:cxnLst/>
            <a:rect r="r" b="b" t="t" l="l"/>
            <a:pathLst>
              <a:path h="5448300" w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610206" y="7472290"/>
            <a:ext cx="836989" cy="2209944"/>
          </a:xfrm>
          <a:custGeom>
            <a:avLst/>
            <a:gdLst/>
            <a:ahLst/>
            <a:cxnLst/>
            <a:rect r="r" b="b" t="t" l="l"/>
            <a:pathLst>
              <a:path h="2209944" w="836989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6840806" y="604765"/>
            <a:ext cx="836989" cy="2209944"/>
          </a:xfrm>
          <a:custGeom>
            <a:avLst/>
            <a:gdLst/>
            <a:ahLst/>
            <a:cxnLst/>
            <a:rect r="r" b="b" t="t" l="l"/>
            <a:pathLst>
              <a:path h="2209944" w="836989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9" id="9"/>
          <p:cNvGrpSpPr/>
          <p:nvPr/>
        </p:nvGrpSpPr>
        <p:grpSpPr>
          <a:xfrm rot="0">
            <a:off x="2969204" y="2867983"/>
            <a:ext cx="12349593" cy="1213752"/>
            <a:chOff x="0" y="0"/>
            <a:chExt cx="3252568" cy="319671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3252568" cy="319671"/>
            </a:xfrm>
            <a:custGeom>
              <a:avLst/>
              <a:gdLst/>
              <a:ahLst/>
              <a:cxnLst/>
              <a:rect r="r" b="b" t="t" l="l"/>
              <a:pathLst>
                <a:path h="319671" w="3252568">
                  <a:moveTo>
                    <a:pt x="0" y="0"/>
                  </a:moveTo>
                  <a:lnTo>
                    <a:pt x="3252568" y="0"/>
                  </a:lnTo>
                  <a:lnTo>
                    <a:pt x="3252568" y="319671"/>
                  </a:lnTo>
                  <a:lnTo>
                    <a:pt x="0" y="319671"/>
                  </a:lnTo>
                  <a:close/>
                </a:path>
              </a:pathLst>
            </a:custGeom>
            <a:solidFill>
              <a:srgbClr val="F9C200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3252568" cy="35777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2721164" y="7744295"/>
            <a:ext cx="12845671" cy="613236"/>
            <a:chOff x="0" y="0"/>
            <a:chExt cx="3383222" cy="161511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3383222" cy="161511"/>
            </a:xfrm>
            <a:custGeom>
              <a:avLst/>
              <a:gdLst/>
              <a:ahLst/>
              <a:cxnLst/>
              <a:rect r="r" b="b" t="t" l="l"/>
              <a:pathLst>
                <a:path h="161511" w="3383222">
                  <a:moveTo>
                    <a:pt x="0" y="0"/>
                  </a:moveTo>
                  <a:lnTo>
                    <a:pt x="3383222" y="0"/>
                  </a:lnTo>
                  <a:lnTo>
                    <a:pt x="3383222" y="161511"/>
                  </a:lnTo>
                  <a:lnTo>
                    <a:pt x="0" y="161511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3383222" cy="19961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2721164" y="6027846"/>
            <a:ext cx="12845671" cy="1444445"/>
            <a:chOff x="0" y="0"/>
            <a:chExt cx="3383222" cy="38043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383222" cy="380430"/>
            </a:xfrm>
            <a:custGeom>
              <a:avLst/>
              <a:gdLst/>
              <a:ahLst/>
              <a:cxnLst/>
              <a:rect r="r" b="b" t="t" l="l"/>
              <a:pathLst>
                <a:path h="380430" w="3383222">
                  <a:moveTo>
                    <a:pt x="0" y="0"/>
                  </a:moveTo>
                  <a:lnTo>
                    <a:pt x="3383222" y="0"/>
                  </a:lnTo>
                  <a:lnTo>
                    <a:pt x="3383222" y="380430"/>
                  </a:lnTo>
                  <a:lnTo>
                    <a:pt x="0" y="38043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383222" cy="4185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2969204" y="4816475"/>
            <a:ext cx="12349593" cy="3489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99"/>
              </a:lnSpc>
            </a:pPr>
            <a:r>
              <a:rPr lang="en-US" sz="2499">
                <a:solidFill>
                  <a:srgbClr val="002B58"/>
                </a:solidFill>
                <a:latin typeface="DM Sans"/>
                <a:ea typeface="DM Sans"/>
                <a:cs typeface="DM Sans"/>
                <a:sym typeface="DM Sans"/>
              </a:rPr>
              <a:t>Hypothesis 1: Linear and non-linear interaction measures: correlation, covariance, mutual information, time-delayed mutual information (JIDT + pySPI); WMS </a:t>
            </a:r>
          </a:p>
          <a:p>
            <a:pPr algn="just">
              <a:lnSpc>
                <a:spcPts val="3499"/>
              </a:lnSpc>
            </a:pPr>
          </a:p>
          <a:p>
            <a:pPr algn="just">
              <a:lnSpc>
                <a:spcPts val="3499"/>
              </a:lnSpc>
            </a:pPr>
            <a:r>
              <a:rPr lang="en-US" sz="2499">
                <a:solidFill>
                  <a:srgbClr val="002B58"/>
                </a:solidFill>
                <a:latin typeface="DM Sans"/>
                <a:ea typeface="DM Sans"/>
                <a:cs typeface="DM Sans"/>
                <a:sym typeface="DM Sans"/>
              </a:rPr>
              <a:t>Hypothesis 2: Cross-Recurrence Quantification Analysis with phase-space reconstruction to analyse coupling between eyebrow movement and pitch dynamics on an intrapersonal level</a:t>
            </a:r>
          </a:p>
          <a:p>
            <a:pPr algn="just">
              <a:lnSpc>
                <a:spcPts val="3499"/>
              </a:lnSpc>
            </a:pPr>
          </a:p>
          <a:p>
            <a:pPr algn="just">
              <a:lnSpc>
                <a:spcPts val="3499"/>
              </a:lnSpc>
            </a:pPr>
            <a:r>
              <a:rPr lang="en-US" sz="2499">
                <a:solidFill>
                  <a:srgbClr val="002B58"/>
                </a:solidFill>
                <a:latin typeface="DM Sans"/>
                <a:ea typeface="DM Sans"/>
                <a:cs typeface="DM Sans"/>
                <a:sym typeface="DM Sans"/>
              </a:rPr>
              <a:t>Hypothesis 3: Multivariate mutual information applied to brow positions (JIDT)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3690340" y="1313892"/>
            <a:ext cx="10907320" cy="1203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800"/>
              </a:lnSpc>
            </a:pPr>
            <a:r>
              <a:rPr lang="en-US" b="true" sz="7000">
                <a:solidFill>
                  <a:srgbClr val="002B58"/>
                </a:solidFill>
                <a:latin typeface="Readex Pro Semi-Bold"/>
                <a:ea typeface="Readex Pro Semi-Bold"/>
                <a:cs typeface="Readex Pro Semi-Bold"/>
                <a:sym typeface="Readex Pro Semi-Bold"/>
              </a:rPr>
              <a:t>METHODOLOGY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3318566" y="2925410"/>
            <a:ext cx="11650868" cy="936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99"/>
              </a:lnSpc>
            </a:pPr>
            <a:r>
              <a:rPr lang="en-US" b="true" sz="5499">
                <a:solidFill>
                  <a:srgbClr val="002B58"/>
                </a:solidFill>
                <a:latin typeface="Readex Pro Semi-Bold"/>
                <a:ea typeface="Readex Pro Semi-Bold"/>
                <a:cs typeface="Readex Pro Semi-Bold"/>
                <a:sym typeface="Readex Pro Semi-Bold"/>
              </a:rPr>
              <a:t>ANALYSIS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true" rot="0">
            <a:off x="-1014412" y="-304800"/>
            <a:ext cx="5448300" cy="5448300"/>
          </a:xfrm>
          <a:custGeom>
            <a:avLst/>
            <a:gdLst/>
            <a:ahLst/>
            <a:cxnLst/>
            <a:rect r="r" b="b" t="t" l="l"/>
            <a:pathLst>
              <a:path h="5448300" w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13854112" y="5143500"/>
            <a:ext cx="5448300" cy="5448300"/>
          </a:xfrm>
          <a:custGeom>
            <a:avLst/>
            <a:gdLst/>
            <a:ahLst/>
            <a:cxnLst/>
            <a:rect r="r" b="b" t="t" l="l"/>
            <a:pathLst>
              <a:path h="5448300" w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610206" y="7472290"/>
            <a:ext cx="836989" cy="2209944"/>
          </a:xfrm>
          <a:custGeom>
            <a:avLst/>
            <a:gdLst/>
            <a:ahLst/>
            <a:cxnLst/>
            <a:rect r="r" b="b" t="t" l="l"/>
            <a:pathLst>
              <a:path h="2209944" w="836989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6840806" y="604765"/>
            <a:ext cx="836989" cy="2209944"/>
          </a:xfrm>
          <a:custGeom>
            <a:avLst/>
            <a:gdLst/>
            <a:ahLst/>
            <a:cxnLst/>
            <a:rect r="r" b="b" t="t" l="l"/>
            <a:pathLst>
              <a:path h="2209944" w="836989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4284095" y="1742929"/>
            <a:ext cx="9719811" cy="3887924"/>
          </a:xfrm>
          <a:custGeom>
            <a:avLst/>
            <a:gdLst/>
            <a:ahLst/>
            <a:cxnLst/>
            <a:rect r="r" b="b" t="t" l="l"/>
            <a:pathLst>
              <a:path h="3887924" w="9719811">
                <a:moveTo>
                  <a:pt x="0" y="0"/>
                </a:moveTo>
                <a:lnTo>
                  <a:pt x="9719810" y="0"/>
                </a:lnTo>
                <a:lnTo>
                  <a:pt x="9719810" y="3887924"/>
                </a:lnTo>
                <a:lnTo>
                  <a:pt x="0" y="38879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4284095" y="5926128"/>
            <a:ext cx="9719811" cy="3887924"/>
          </a:xfrm>
          <a:custGeom>
            <a:avLst/>
            <a:gdLst/>
            <a:ahLst/>
            <a:cxnLst/>
            <a:rect r="r" b="b" t="t" l="l"/>
            <a:pathLst>
              <a:path h="3887924" w="9719811">
                <a:moveTo>
                  <a:pt x="0" y="0"/>
                </a:moveTo>
                <a:lnTo>
                  <a:pt x="9719810" y="0"/>
                </a:lnTo>
                <a:lnTo>
                  <a:pt x="9719810" y="3887924"/>
                </a:lnTo>
                <a:lnTo>
                  <a:pt x="0" y="388792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722752" y="770644"/>
            <a:ext cx="15603228" cy="679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b="true" sz="3999">
                <a:solidFill>
                  <a:srgbClr val="002B58"/>
                </a:solidFill>
                <a:latin typeface="Readex Pro Semi-Bold"/>
                <a:ea typeface="Readex Pro Semi-Bold"/>
                <a:cs typeface="Readex Pro Semi-Bold"/>
                <a:sym typeface="Readex Pro Semi-Bold"/>
              </a:rPr>
              <a:t>WINDOWED MULTISCALE SYNCHRONY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true" rot="0">
            <a:off x="-1014412" y="-304800"/>
            <a:ext cx="5448300" cy="5448300"/>
          </a:xfrm>
          <a:custGeom>
            <a:avLst/>
            <a:gdLst/>
            <a:ahLst/>
            <a:cxnLst/>
            <a:rect r="r" b="b" t="t" l="l"/>
            <a:pathLst>
              <a:path h="5448300" w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13854112" y="5143500"/>
            <a:ext cx="5448300" cy="5448300"/>
          </a:xfrm>
          <a:custGeom>
            <a:avLst/>
            <a:gdLst/>
            <a:ahLst/>
            <a:cxnLst/>
            <a:rect r="r" b="b" t="t" l="l"/>
            <a:pathLst>
              <a:path h="5448300" w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610206" y="7472290"/>
            <a:ext cx="836989" cy="2209944"/>
          </a:xfrm>
          <a:custGeom>
            <a:avLst/>
            <a:gdLst/>
            <a:ahLst/>
            <a:cxnLst/>
            <a:rect r="r" b="b" t="t" l="l"/>
            <a:pathLst>
              <a:path h="2209944" w="836989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6840806" y="604765"/>
            <a:ext cx="836989" cy="2209944"/>
          </a:xfrm>
          <a:custGeom>
            <a:avLst/>
            <a:gdLst/>
            <a:ahLst/>
            <a:cxnLst/>
            <a:rect r="r" b="b" t="t" l="l"/>
            <a:pathLst>
              <a:path h="2209944" w="836989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2030997" y="2599180"/>
            <a:ext cx="7087394" cy="6474669"/>
          </a:xfrm>
          <a:custGeom>
            <a:avLst/>
            <a:gdLst/>
            <a:ahLst/>
            <a:cxnLst/>
            <a:rect r="r" b="b" t="t" l="l"/>
            <a:pathLst>
              <a:path h="6474669" w="7087394">
                <a:moveTo>
                  <a:pt x="0" y="0"/>
                </a:moveTo>
                <a:lnTo>
                  <a:pt x="7087394" y="0"/>
                </a:lnTo>
                <a:lnTo>
                  <a:pt x="7087394" y="6474669"/>
                </a:lnTo>
                <a:lnTo>
                  <a:pt x="0" y="64746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9524366" y="3191303"/>
            <a:ext cx="7053897" cy="5290422"/>
          </a:xfrm>
          <a:custGeom>
            <a:avLst/>
            <a:gdLst/>
            <a:ahLst/>
            <a:cxnLst/>
            <a:rect r="r" b="b" t="t" l="l"/>
            <a:pathLst>
              <a:path h="5290422" w="7053897">
                <a:moveTo>
                  <a:pt x="0" y="0"/>
                </a:moveTo>
                <a:lnTo>
                  <a:pt x="7053896" y="0"/>
                </a:lnTo>
                <a:lnTo>
                  <a:pt x="7053896" y="5290423"/>
                </a:lnTo>
                <a:lnTo>
                  <a:pt x="0" y="529042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722752" y="770644"/>
            <a:ext cx="15603228" cy="679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b="true" sz="3999">
                <a:solidFill>
                  <a:srgbClr val="002B58"/>
                </a:solidFill>
                <a:latin typeface="Readex Pro Semi-Bold"/>
                <a:ea typeface="Readex Pro Semi-Bold"/>
                <a:cs typeface="Readex Pro Semi-Bold"/>
                <a:sym typeface="Readex Pro Semi-Bold"/>
              </a:rPr>
              <a:t>TIME-DELAYED MUTUAL INFORMATION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true" rot="0">
            <a:off x="-1014412" y="-304800"/>
            <a:ext cx="5448300" cy="5448300"/>
          </a:xfrm>
          <a:custGeom>
            <a:avLst/>
            <a:gdLst/>
            <a:ahLst/>
            <a:cxnLst/>
            <a:rect r="r" b="b" t="t" l="l"/>
            <a:pathLst>
              <a:path h="5448300" w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13854112" y="5143500"/>
            <a:ext cx="5448300" cy="5448300"/>
          </a:xfrm>
          <a:custGeom>
            <a:avLst/>
            <a:gdLst/>
            <a:ahLst/>
            <a:cxnLst/>
            <a:rect r="r" b="b" t="t" l="l"/>
            <a:pathLst>
              <a:path h="5448300" w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610206" y="7472290"/>
            <a:ext cx="836989" cy="2209944"/>
          </a:xfrm>
          <a:custGeom>
            <a:avLst/>
            <a:gdLst/>
            <a:ahLst/>
            <a:cxnLst/>
            <a:rect r="r" b="b" t="t" l="l"/>
            <a:pathLst>
              <a:path h="2209944" w="836989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6840806" y="604765"/>
            <a:ext cx="836989" cy="2209944"/>
          </a:xfrm>
          <a:custGeom>
            <a:avLst/>
            <a:gdLst/>
            <a:ahLst/>
            <a:cxnLst/>
            <a:rect r="r" b="b" t="t" l="l"/>
            <a:pathLst>
              <a:path h="2209944" w="836989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9847582" y="1709737"/>
            <a:ext cx="6440024" cy="6149933"/>
          </a:xfrm>
          <a:custGeom>
            <a:avLst/>
            <a:gdLst/>
            <a:ahLst/>
            <a:cxnLst/>
            <a:rect r="r" b="b" t="t" l="l"/>
            <a:pathLst>
              <a:path h="6149933" w="6440024">
                <a:moveTo>
                  <a:pt x="0" y="0"/>
                </a:moveTo>
                <a:lnTo>
                  <a:pt x="6440024" y="0"/>
                </a:lnTo>
                <a:lnTo>
                  <a:pt x="6440024" y="6149934"/>
                </a:lnTo>
                <a:lnTo>
                  <a:pt x="0" y="61499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2646826" y="1709738"/>
            <a:ext cx="6440024" cy="6149933"/>
          </a:xfrm>
          <a:custGeom>
            <a:avLst/>
            <a:gdLst/>
            <a:ahLst/>
            <a:cxnLst/>
            <a:rect r="r" b="b" t="t" l="l"/>
            <a:pathLst>
              <a:path h="6149933" w="6440024">
                <a:moveTo>
                  <a:pt x="0" y="0"/>
                </a:moveTo>
                <a:lnTo>
                  <a:pt x="6440024" y="0"/>
                </a:lnTo>
                <a:lnTo>
                  <a:pt x="6440024" y="6149933"/>
                </a:lnTo>
                <a:lnTo>
                  <a:pt x="0" y="614993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2632964" y="7984468"/>
            <a:ext cx="12888723" cy="1554702"/>
          </a:xfrm>
          <a:custGeom>
            <a:avLst/>
            <a:gdLst/>
            <a:ahLst/>
            <a:cxnLst/>
            <a:rect r="r" b="b" t="t" l="l"/>
            <a:pathLst>
              <a:path h="1554702" w="12888723">
                <a:moveTo>
                  <a:pt x="0" y="0"/>
                </a:moveTo>
                <a:lnTo>
                  <a:pt x="12888722" y="0"/>
                </a:lnTo>
                <a:lnTo>
                  <a:pt x="12888722" y="1554702"/>
                </a:lnTo>
                <a:lnTo>
                  <a:pt x="0" y="155470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grpSp>
        <p:nvGrpSpPr>
          <p:cNvPr name="Group 9" id="9"/>
          <p:cNvGrpSpPr/>
          <p:nvPr/>
        </p:nvGrpSpPr>
        <p:grpSpPr>
          <a:xfrm rot="0">
            <a:off x="5923988" y="7996120"/>
            <a:ext cx="5830630" cy="1543050"/>
            <a:chOff x="0" y="0"/>
            <a:chExt cx="1535639" cy="4064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535639" cy="406400"/>
            </a:xfrm>
            <a:custGeom>
              <a:avLst/>
              <a:gdLst/>
              <a:ahLst/>
              <a:cxnLst/>
              <a:rect r="r" b="b" t="t" l="l"/>
              <a:pathLst>
                <a:path h="406400" w="1535639">
                  <a:moveTo>
                    <a:pt x="0" y="0"/>
                  </a:moveTo>
                  <a:lnTo>
                    <a:pt x="1535639" y="0"/>
                  </a:lnTo>
                  <a:lnTo>
                    <a:pt x="1535639" y="406400"/>
                  </a:lnTo>
                  <a:lnTo>
                    <a:pt x="0" y="406400"/>
                  </a:lnTo>
                  <a:close/>
                </a:path>
              </a:pathLst>
            </a:custGeom>
            <a:ln w="38100" cap="sq">
              <a:solidFill>
                <a:srgbClr val="4A6FA5"/>
              </a:solidFill>
              <a:prstDash val="solid"/>
              <a:miter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535639" cy="444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1722752" y="770644"/>
            <a:ext cx="15603228" cy="679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b="true" sz="3999">
                <a:solidFill>
                  <a:srgbClr val="002B58"/>
                </a:solidFill>
                <a:latin typeface="Readex Pro Semi-Bold"/>
                <a:ea typeface="Readex Pro Semi-Bold"/>
                <a:cs typeface="Readex Pro Semi-Bold"/>
                <a:sym typeface="Readex Pro Semi-Bold"/>
              </a:rPr>
              <a:t>CROSS-RECURRENCE QUANTIFICATION ANALYSIS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228739" y="3502938"/>
            <a:ext cx="2190121" cy="2647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200"/>
              </a:lnSpc>
              <a:spcBef>
                <a:spcPct val="0"/>
              </a:spcBef>
            </a:pPr>
            <a:r>
              <a:rPr lang="en-US" sz="3000" strike="noStrike" u="none">
                <a:solidFill>
                  <a:srgbClr val="002B58"/>
                </a:solidFill>
                <a:latin typeface="Canva Sans"/>
                <a:ea typeface="Canva Sans"/>
                <a:cs typeface="Canva Sans"/>
                <a:sym typeface="Canva Sans"/>
              </a:rPr>
              <a:t>CRQA parameters </a:t>
            </a:r>
          </a:p>
          <a:p>
            <a:pPr algn="l" marL="0" indent="0" lvl="0">
              <a:lnSpc>
                <a:spcPts val="4200"/>
              </a:lnSpc>
              <a:spcBef>
                <a:spcPct val="0"/>
              </a:spcBef>
            </a:pPr>
            <a:r>
              <a:rPr lang="en-US" sz="3000" i="true" strike="noStrike" u="none">
                <a:solidFill>
                  <a:srgbClr val="002B5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delay = 56</a:t>
            </a:r>
          </a:p>
          <a:p>
            <a:pPr algn="l" marL="0" indent="0" lvl="0">
              <a:lnSpc>
                <a:spcPts val="4200"/>
              </a:lnSpc>
              <a:spcBef>
                <a:spcPct val="0"/>
              </a:spcBef>
            </a:pPr>
            <a:r>
              <a:rPr lang="en-US" sz="3000" i="true" strike="noStrike" u="none">
                <a:solidFill>
                  <a:srgbClr val="002B5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embed = 8</a:t>
            </a:r>
          </a:p>
          <a:p>
            <a:pPr algn="l" marL="0" indent="0" lvl="0">
              <a:lnSpc>
                <a:spcPts val="4200"/>
              </a:lnSpc>
              <a:spcBef>
                <a:spcPct val="0"/>
              </a:spcBef>
            </a:pPr>
            <a:r>
              <a:rPr lang="en-US" sz="3000" i="true" strike="noStrike" u="none">
                <a:solidFill>
                  <a:srgbClr val="002B5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radius = 2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52489" y="3541038"/>
            <a:ext cx="2285470" cy="2731428"/>
            <a:chOff x="0" y="0"/>
            <a:chExt cx="601934" cy="719388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601934" cy="719388"/>
            </a:xfrm>
            <a:custGeom>
              <a:avLst/>
              <a:gdLst/>
              <a:ahLst/>
              <a:cxnLst/>
              <a:rect r="r" b="b" t="t" l="l"/>
              <a:pathLst>
                <a:path h="719388" w="601934">
                  <a:moveTo>
                    <a:pt x="0" y="0"/>
                  </a:moveTo>
                  <a:lnTo>
                    <a:pt x="601934" y="0"/>
                  </a:lnTo>
                  <a:lnTo>
                    <a:pt x="601934" y="719388"/>
                  </a:lnTo>
                  <a:lnTo>
                    <a:pt x="0" y="719388"/>
                  </a:lnTo>
                  <a:close/>
                </a:path>
              </a:pathLst>
            </a:custGeom>
            <a:ln w="38100" cap="sq">
              <a:solidFill>
                <a:srgbClr val="4A6FA5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601934" cy="7574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true" rot="0">
            <a:off x="-1014412" y="-304800"/>
            <a:ext cx="5448300" cy="5448300"/>
          </a:xfrm>
          <a:custGeom>
            <a:avLst/>
            <a:gdLst/>
            <a:ahLst/>
            <a:cxnLst/>
            <a:rect r="r" b="b" t="t" l="l"/>
            <a:pathLst>
              <a:path h="5448300" w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13854112" y="5143500"/>
            <a:ext cx="5448300" cy="5448300"/>
          </a:xfrm>
          <a:custGeom>
            <a:avLst/>
            <a:gdLst/>
            <a:ahLst/>
            <a:cxnLst/>
            <a:rect r="r" b="b" t="t" l="l"/>
            <a:pathLst>
              <a:path h="5448300" w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610206" y="7472290"/>
            <a:ext cx="836989" cy="2209944"/>
          </a:xfrm>
          <a:custGeom>
            <a:avLst/>
            <a:gdLst/>
            <a:ahLst/>
            <a:cxnLst/>
            <a:rect r="r" b="b" t="t" l="l"/>
            <a:pathLst>
              <a:path h="2209944" w="836989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6840806" y="604765"/>
            <a:ext cx="836989" cy="2209944"/>
          </a:xfrm>
          <a:custGeom>
            <a:avLst/>
            <a:gdLst/>
            <a:ahLst/>
            <a:cxnLst/>
            <a:rect r="r" b="b" t="t" l="l"/>
            <a:pathLst>
              <a:path h="2209944" w="836989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876225" y="2173238"/>
            <a:ext cx="6706101" cy="6404025"/>
          </a:xfrm>
          <a:custGeom>
            <a:avLst/>
            <a:gdLst/>
            <a:ahLst/>
            <a:cxnLst/>
            <a:rect r="r" b="b" t="t" l="l"/>
            <a:pathLst>
              <a:path h="6404025" w="6706101">
                <a:moveTo>
                  <a:pt x="0" y="0"/>
                </a:moveTo>
                <a:lnTo>
                  <a:pt x="6706101" y="0"/>
                </a:lnTo>
                <a:lnTo>
                  <a:pt x="6706101" y="6404024"/>
                </a:lnTo>
                <a:lnTo>
                  <a:pt x="0" y="64040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9010951" y="2173238"/>
            <a:ext cx="6706101" cy="6404025"/>
          </a:xfrm>
          <a:custGeom>
            <a:avLst/>
            <a:gdLst/>
            <a:ahLst/>
            <a:cxnLst/>
            <a:rect r="r" b="b" t="t" l="l"/>
            <a:pathLst>
              <a:path h="6404025" w="6706101">
                <a:moveTo>
                  <a:pt x="0" y="0"/>
                </a:moveTo>
                <a:lnTo>
                  <a:pt x="6706101" y="0"/>
                </a:lnTo>
                <a:lnTo>
                  <a:pt x="6706101" y="6404024"/>
                </a:lnTo>
                <a:lnTo>
                  <a:pt x="0" y="640402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656072" y="952500"/>
            <a:ext cx="15603228" cy="679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b="true" sz="3999">
                <a:solidFill>
                  <a:srgbClr val="002B58"/>
                </a:solidFill>
                <a:latin typeface="Readex Pro Semi-Bold"/>
                <a:ea typeface="Readex Pro Semi-Bold"/>
                <a:cs typeface="Readex Pro Semi-Bold"/>
                <a:sym typeface="Readex Pro Semi-Bold"/>
              </a:rPr>
              <a:t>DIAGONAL CROSS-RECURRENCE PROFILE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014412" y="5143500"/>
            <a:ext cx="5448300" cy="5448300"/>
          </a:xfrm>
          <a:custGeom>
            <a:avLst/>
            <a:gdLst/>
            <a:ahLst/>
            <a:cxnLst/>
            <a:rect r="r" b="b" t="t" l="l"/>
            <a:pathLst>
              <a:path h="5448300" w="5448300">
                <a:moveTo>
                  <a:pt x="0" y="0"/>
                </a:moveTo>
                <a:lnTo>
                  <a:pt x="5448300" y="0"/>
                </a:lnTo>
                <a:lnTo>
                  <a:pt x="5448300" y="5448300"/>
                </a:lnTo>
                <a:lnTo>
                  <a:pt x="0" y="54483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true" rot="0">
            <a:off x="13854112" y="-304800"/>
            <a:ext cx="5448300" cy="5448300"/>
          </a:xfrm>
          <a:custGeom>
            <a:avLst/>
            <a:gdLst/>
            <a:ahLst/>
            <a:cxnLst/>
            <a:rect r="r" b="b" t="t" l="l"/>
            <a:pathLst>
              <a:path h="5448300" w="5448300">
                <a:moveTo>
                  <a:pt x="5448300" y="5448300"/>
                </a:moveTo>
                <a:lnTo>
                  <a:pt x="0" y="5448300"/>
                </a:lnTo>
                <a:lnTo>
                  <a:pt x="0" y="0"/>
                </a:lnTo>
                <a:lnTo>
                  <a:pt x="5448300" y="0"/>
                </a:lnTo>
                <a:lnTo>
                  <a:pt x="5448300" y="54483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610206" y="604765"/>
            <a:ext cx="836989" cy="2209944"/>
          </a:xfrm>
          <a:custGeom>
            <a:avLst/>
            <a:gdLst/>
            <a:ahLst/>
            <a:cxnLst/>
            <a:rect r="r" b="b" t="t" l="l"/>
            <a:pathLst>
              <a:path h="2209944" w="836989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6840806" y="7472290"/>
            <a:ext cx="836989" cy="2209944"/>
          </a:xfrm>
          <a:custGeom>
            <a:avLst/>
            <a:gdLst/>
            <a:ahLst/>
            <a:cxnLst/>
            <a:rect r="r" b="b" t="t" l="l"/>
            <a:pathLst>
              <a:path h="2209944" w="836989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969204" y="5161195"/>
            <a:ext cx="12349593" cy="173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99"/>
              </a:lnSpc>
            </a:pPr>
            <a:r>
              <a:rPr lang="en-US" sz="2499">
                <a:solidFill>
                  <a:srgbClr val="002B58"/>
                </a:solidFill>
                <a:latin typeface="DM Sans"/>
                <a:ea typeface="DM Sans"/>
                <a:cs typeface="DM Sans"/>
                <a:sym typeface="DM Sans"/>
              </a:rPr>
              <a:t>Number of datapoints is not the same for all trials in the dataset (and not many datapoints at that)</a:t>
            </a:r>
          </a:p>
          <a:p>
            <a:pPr algn="just">
              <a:lnSpc>
                <a:spcPts val="3499"/>
              </a:lnSpc>
            </a:pPr>
          </a:p>
          <a:p>
            <a:pPr algn="just">
              <a:lnSpc>
                <a:spcPts val="3499"/>
              </a:lnSpc>
            </a:pPr>
            <a:r>
              <a:rPr lang="en-US" sz="2499">
                <a:solidFill>
                  <a:srgbClr val="002B58"/>
                </a:solidFill>
                <a:latin typeface="DM Sans"/>
                <a:ea typeface="DM Sans"/>
                <a:cs typeface="DM Sans"/>
                <a:sym typeface="DM Sans"/>
              </a:rPr>
              <a:t>Head gear - presence of helmet can restrict eyebrow and facial movements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3690340" y="3246205"/>
            <a:ext cx="10907320" cy="1203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800"/>
              </a:lnSpc>
            </a:pPr>
            <a:r>
              <a:rPr lang="en-US" b="true" sz="7000">
                <a:solidFill>
                  <a:srgbClr val="002B58"/>
                </a:solidFill>
                <a:latin typeface="Readex Pro Semi-Bold"/>
                <a:ea typeface="Readex Pro Semi-Bold"/>
                <a:cs typeface="Readex Pro Semi-Bold"/>
                <a:sym typeface="Readex Pro Semi-Bold"/>
              </a:rPr>
              <a:t>LIMITATIONS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014412" y="5143500"/>
            <a:ext cx="5448300" cy="5448300"/>
          </a:xfrm>
          <a:custGeom>
            <a:avLst/>
            <a:gdLst/>
            <a:ahLst/>
            <a:cxnLst/>
            <a:rect r="r" b="b" t="t" l="l"/>
            <a:pathLst>
              <a:path h="5448300" w="5448300">
                <a:moveTo>
                  <a:pt x="0" y="0"/>
                </a:moveTo>
                <a:lnTo>
                  <a:pt x="5448300" y="0"/>
                </a:lnTo>
                <a:lnTo>
                  <a:pt x="5448300" y="5448300"/>
                </a:lnTo>
                <a:lnTo>
                  <a:pt x="0" y="54483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true" rot="0">
            <a:off x="13854112" y="-304800"/>
            <a:ext cx="5448300" cy="5448300"/>
          </a:xfrm>
          <a:custGeom>
            <a:avLst/>
            <a:gdLst/>
            <a:ahLst/>
            <a:cxnLst/>
            <a:rect r="r" b="b" t="t" l="l"/>
            <a:pathLst>
              <a:path h="5448300" w="5448300">
                <a:moveTo>
                  <a:pt x="5448300" y="5448300"/>
                </a:moveTo>
                <a:lnTo>
                  <a:pt x="0" y="5448300"/>
                </a:lnTo>
                <a:lnTo>
                  <a:pt x="0" y="0"/>
                </a:lnTo>
                <a:lnTo>
                  <a:pt x="5448300" y="0"/>
                </a:lnTo>
                <a:lnTo>
                  <a:pt x="5448300" y="54483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610206" y="604765"/>
            <a:ext cx="836989" cy="2209944"/>
          </a:xfrm>
          <a:custGeom>
            <a:avLst/>
            <a:gdLst/>
            <a:ahLst/>
            <a:cxnLst/>
            <a:rect r="r" b="b" t="t" l="l"/>
            <a:pathLst>
              <a:path h="2209944" w="836989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6840806" y="7472290"/>
            <a:ext cx="836989" cy="2209944"/>
          </a:xfrm>
          <a:custGeom>
            <a:avLst/>
            <a:gdLst/>
            <a:ahLst/>
            <a:cxnLst/>
            <a:rect r="r" b="b" t="t" l="l"/>
            <a:pathLst>
              <a:path h="2209944" w="836989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969204" y="3688298"/>
            <a:ext cx="12349593" cy="568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99"/>
              </a:lnSpc>
            </a:pPr>
            <a:r>
              <a:rPr lang="en-US" sz="2499">
                <a:solidFill>
                  <a:srgbClr val="002B58"/>
                </a:solidFill>
                <a:latin typeface="DM Sans"/>
                <a:ea typeface="DM Sans"/>
                <a:cs typeface="DM Sans"/>
                <a:sym typeface="DM Sans"/>
              </a:rPr>
              <a:t>Botulinum Toxin (e.g., Botox) and other muscular argumentation. </a:t>
            </a:r>
          </a:p>
          <a:p>
            <a:pPr algn="l" marL="539749" indent="-269875" lvl="1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2B58"/>
                </a:solidFill>
                <a:latin typeface="DM Sans"/>
                <a:ea typeface="DM Sans"/>
                <a:cs typeface="DM Sans"/>
                <a:sym typeface="DM Sans"/>
              </a:rPr>
              <a:t>Eyebrows in particular susceptible to freezing and reduced movement due as a result of popular aesthetic procedures (Schlager et al., 2019)</a:t>
            </a:r>
          </a:p>
          <a:p>
            <a:pPr algn="l">
              <a:lnSpc>
                <a:spcPts val="3499"/>
              </a:lnSpc>
            </a:pPr>
          </a:p>
          <a:p>
            <a:pPr algn="l">
              <a:lnSpc>
                <a:spcPts val="3499"/>
              </a:lnSpc>
            </a:pPr>
            <a:r>
              <a:rPr lang="en-US" sz="2499">
                <a:solidFill>
                  <a:srgbClr val="002B58"/>
                </a:solidFill>
                <a:latin typeface="DM Sans"/>
                <a:ea typeface="DM Sans"/>
                <a:cs typeface="DM Sans"/>
                <a:sym typeface="DM Sans"/>
              </a:rPr>
              <a:t>Languages play a large role in pitch production, so can expect a cross-linguistic difference in relationship between eyebrow movement and pitch</a:t>
            </a:r>
          </a:p>
          <a:p>
            <a:pPr algn="l">
              <a:lnSpc>
                <a:spcPts val="3499"/>
              </a:lnSpc>
            </a:pPr>
          </a:p>
          <a:p>
            <a:pPr algn="just">
              <a:lnSpc>
                <a:spcPts val="3499"/>
              </a:lnSpc>
            </a:pPr>
            <a:r>
              <a:rPr lang="en-US" sz="2499">
                <a:solidFill>
                  <a:srgbClr val="002B58"/>
                </a:solidFill>
                <a:latin typeface="DM Sans"/>
                <a:ea typeface="DM Sans"/>
                <a:cs typeface="DM Sans"/>
                <a:sym typeface="DM Sans"/>
              </a:rPr>
              <a:t>Extracting accurate eyebrow movement in moving head systems. Accounting for head roll, etc.</a:t>
            </a:r>
          </a:p>
          <a:p>
            <a:pPr algn="just">
              <a:lnSpc>
                <a:spcPts val="3499"/>
              </a:lnSpc>
            </a:pPr>
          </a:p>
          <a:p>
            <a:pPr algn="just">
              <a:lnSpc>
                <a:spcPts val="3499"/>
              </a:lnSpc>
            </a:pPr>
            <a:r>
              <a:rPr lang="en-US" sz="2499">
                <a:solidFill>
                  <a:srgbClr val="002B58"/>
                </a:solidFill>
                <a:latin typeface="DM Sans"/>
                <a:ea typeface="DM Sans"/>
                <a:cs typeface="DM Sans"/>
                <a:sym typeface="DM Sans"/>
              </a:rPr>
              <a:t>Include pitch for guesser</a:t>
            </a:r>
          </a:p>
          <a:p>
            <a:pPr algn="just">
              <a:lnSpc>
                <a:spcPts val="3499"/>
              </a:lnSpc>
            </a:pPr>
          </a:p>
          <a:p>
            <a:pPr algn="just">
              <a:lnSpc>
                <a:spcPts val="3499"/>
              </a:lnSpc>
            </a:pPr>
            <a:r>
              <a:rPr lang="en-US" sz="2499">
                <a:solidFill>
                  <a:srgbClr val="002B58"/>
                </a:solidFill>
                <a:latin typeface="DM Sans"/>
                <a:ea typeface="DM Sans"/>
                <a:cs typeface="DM Sans"/>
                <a:sym typeface="DM Sans"/>
              </a:rPr>
              <a:t>Both interlocutors in unstable settings. same board, different board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3690340" y="885825"/>
            <a:ext cx="10907320" cy="2441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800"/>
              </a:lnSpc>
            </a:pPr>
            <a:r>
              <a:rPr lang="en-US" b="true" sz="7000">
                <a:solidFill>
                  <a:srgbClr val="002B58"/>
                </a:solidFill>
                <a:latin typeface="Readex Pro Semi-Bold"/>
                <a:ea typeface="Readex Pro Semi-Bold"/>
                <a:cs typeface="Readex Pro Semi-Bold"/>
                <a:sym typeface="Readex Pro Semi-Bold"/>
              </a:rPr>
              <a:t>CHALLENGES AND FUTURE DIRECTIONS 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014412" y="5143500"/>
            <a:ext cx="5448300" cy="5448300"/>
          </a:xfrm>
          <a:custGeom>
            <a:avLst/>
            <a:gdLst/>
            <a:ahLst/>
            <a:cxnLst/>
            <a:rect r="r" b="b" t="t" l="l"/>
            <a:pathLst>
              <a:path h="5448300" w="5448300">
                <a:moveTo>
                  <a:pt x="0" y="0"/>
                </a:moveTo>
                <a:lnTo>
                  <a:pt x="5448300" y="0"/>
                </a:lnTo>
                <a:lnTo>
                  <a:pt x="5448300" y="5448300"/>
                </a:lnTo>
                <a:lnTo>
                  <a:pt x="0" y="54483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true" rot="0">
            <a:off x="13854112" y="-304800"/>
            <a:ext cx="5448300" cy="5448300"/>
          </a:xfrm>
          <a:custGeom>
            <a:avLst/>
            <a:gdLst/>
            <a:ahLst/>
            <a:cxnLst/>
            <a:rect r="r" b="b" t="t" l="l"/>
            <a:pathLst>
              <a:path h="5448300" w="5448300">
                <a:moveTo>
                  <a:pt x="5448300" y="5448300"/>
                </a:moveTo>
                <a:lnTo>
                  <a:pt x="0" y="5448300"/>
                </a:lnTo>
                <a:lnTo>
                  <a:pt x="0" y="0"/>
                </a:lnTo>
                <a:lnTo>
                  <a:pt x="5448300" y="0"/>
                </a:lnTo>
                <a:lnTo>
                  <a:pt x="5448300" y="54483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610206" y="604765"/>
            <a:ext cx="836989" cy="2209944"/>
          </a:xfrm>
          <a:custGeom>
            <a:avLst/>
            <a:gdLst/>
            <a:ahLst/>
            <a:cxnLst/>
            <a:rect r="r" b="b" t="t" l="l"/>
            <a:pathLst>
              <a:path h="2209944" w="836989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6840806" y="7472290"/>
            <a:ext cx="836989" cy="2209944"/>
          </a:xfrm>
          <a:custGeom>
            <a:avLst/>
            <a:gdLst/>
            <a:ahLst/>
            <a:cxnLst/>
            <a:rect r="r" b="b" t="t" l="l"/>
            <a:pathLst>
              <a:path h="2209944" w="836989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299837" y="1797685"/>
            <a:ext cx="13688325" cy="7221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520"/>
              </a:lnSpc>
            </a:pPr>
            <a:r>
              <a:rPr lang="en-US" sz="1800">
                <a:solidFill>
                  <a:srgbClr val="002B58"/>
                </a:solidFill>
                <a:latin typeface="DM Sans"/>
                <a:ea typeface="DM Sans"/>
                <a:cs typeface="DM Sans"/>
                <a:sym typeface="DM Sans"/>
              </a:rPr>
              <a:t>Anikin, A. (2023). The honest sound of physical effort. </a:t>
            </a:r>
            <a:r>
              <a:rPr lang="en-US" sz="1800" i="true">
                <a:solidFill>
                  <a:srgbClr val="002B58"/>
                </a:solidFill>
                <a:latin typeface="DM Sans Italics"/>
                <a:ea typeface="DM Sans Italics"/>
                <a:cs typeface="DM Sans Italics"/>
                <a:sym typeface="DM Sans Italics"/>
              </a:rPr>
              <a:t>PeerJ</a:t>
            </a:r>
            <a:r>
              <a:rPr lang="en-US" sz="1800">
                <a:solidFill>
                  <a:srgbClr val="002B58"/>
                </a:solidFill>
                <a:latin typeface="DM Sans"/>
                <a:ea typeface="DM Sans"/>
                <a:cs typeface="DM Sans"/>
                <a:sym typeface="DM Sans"/>
              </a:rPr>
              <a:t>, 11, e14944.</a:t>
            </a:r>
          </a:p>
          <a:p>
            <a:pPr algn="just">
              <a:lnSpc>
                <a:spcPts val="2520"/>
              </a:lnSpc>
            </a:pPr>
          </a:p>
          <a:p>
            <a:pPr algn="just">
              <a:lnSpc>
                <a:spcPts val="2520"/>
              </a:lnSpc>
            </a:pPr>
            <a:r>
              <a:rPr lang="en-US" sz="1800">
                <a:solidFill>
                  <a:srgbClr val="002B58"/>
                </a:solidFill>
                <a:latin typeface="DM Sans"/>
                <a:ea typeface="DM Sans"/>
                <a:cs typeface="DM Sans"/>
                <a:sym typeface="DM Sans"/>
              </a:rPr>
              <a:t>Cavé, C., Guaïtella, I., &amp; Santi, S. (2002). Eyebrow movements and voice variations in dialogue situations: an experimental investigation. In INTERSPEECH (pp. 2353-2356).</a:t>
            </a:r>
          </a:p>
          <a:p>
            <a:pPr algn="just">
              <a:lnSpc>
                <a:spcPts val="2520"/>
              </a:lnSpc>
            </a:pPr>
          </a:p>
          <a:p>
            <a:pPr algn="just">
              <a:lnSpc>
                <a:spcPts val="2520"/>
              </a:lnSpc>
            </a:pPr>
            <a:r>
              <a:rPr lang="en-US" sz="1800">
                <a:solidFill>
                  <a:srgbClr val="002B58"/>
                </a:solidFill>
                <a:latin typeface="DM Sans"/>
                <a:ea typeface="DM Sans"/>
                <a:cs typeface="DM Sans"/>
                <a:sym typeface="DM Sans"/>
              </a:rPr>
              <a:t>Chiu, Y.-F., Longhurst, J. K., Fletcher, A. R., &amp; Loux, T. (2026). Voice changes during dual task walking in Parkinson’s disease. </a:t>
            </a:r>
            <a:r>
              <a:rPr lang="en-US" sz="1800" i="true">
                <a:solidFill>
                  <a:srgbClr val="002B58"/>
                </a:solidFill>
                <a:latin typeface="DM Sans Italics"/>
                <a:ea typeface="DM Sans Italics"/>
                <a:cs typeface="DM Sans Italics"/>
                <a:sym typeface="DM Sans Italics"/>
              </a:rPr>
              <a:t>Journal of Communication Disorders</a:t>
            </a:r>
            <a:r>
              <a:rPr lang="en-US" sz="1800">
                <a:solidFill>
                  <a:srgbClr val="002B58"/>
                </a:solidFill>
                <a:latin typeface="DM Sans"/>
                <a:ea typeface="DM Sans"/>
                <a:cs typeface="DM Sans"/>
                <a:sym typeface="DM Sans"/>
              </a:rPr>
              <a:t>, 119, 106615.</a:t>
            </a:r>
          </a:p>
          <a:p>
            <a:pPr algn="just">
              <a:lnSpc>
                <a:spcPts val="2520"/>
              </a:lnSpc>
            </a:pPr>
          </a:p>
          <a:p>
            <a:pPr algn="just">
              <a:lnSpc>
                <a:spcPts val="2520"/>
              </a:lnSpc>
            </a:pPr>
            <a:r>
              <a:rPr lang="en-US" sz="1800">
                <a:solidFill>
                  <a:srgbClr val="002B58"/>
                </a:solidFill>
                <a:latin typeface="DM Sans"/>
                <a:ea typeface="DM Sans"/>
                <a:cs typeface="DM Sans"/>
                <a:sym typeface="DM Sans"/>
              </a:rPr>
              <a:t>Krahmer, E. J., Ruttkay, Z., Swerts, M. G. J., &amp; Wesselink, W. (2002). Pitch, eyebrows and the perception of focus. In B. Bel, &amp; I. Marlien (Eds.), </a:t>
            </a:r>
            <a:r>
              <a:rPr lang="en-US" sz="1800" i="true">
                <a:solidFill>
                  <a:srgbClr val="002B58"/>
                </a:solidFill>
                <a:latin typeface="DM Sans Italics"/>
                <a:ea typeface="DM Sans Italics"/>
                <a:cs typeface="DM Sans Italics"/>
                <a:sym typeface="DM Sans Italics"/>
              </a:rPr>
              <a:t>Proceedings of the Speech Prosody 2002, Conference Aix-en-Provence, 11-13 April 20012</a:t>
            </a:r>
            <a:r>
              <a:rPr lang="en-US" sz="1800">
                <a:solidFill>
                  <a:srgbClr val="002B58"/>
                </a:solidFill>
                <a:latin typeface="DM Sans"/>
                <a:ea typeface="DM Sans"/>
                <a:cs typeface="DM Sans"/>
                <a:sym typeface="DM Sans"/>
              </a:rPr>
              <a:t> (pp. 443-446). Laboratoire Parole et Langage.</a:t>
            </a:r>
          </a:p>
          <a:p>
            <a:pPr algn="just">
              <a:lnSpc>
                <a:spcPts val="2520"/>
              </a:lnSpc>
            </a:pPr>
          </a:p>
          <a:p>
            <a:pPr algn="just">
              <a:lnSpc>
                <a:spcPts val="2520"/>
              </a:lnSpc>
            </a:pPr>
            <a:r>
              <a:rPr lang="en-US" sz="1800">
                <a:solidFill>
                  <a:srgbClr val="002B58"/>
                </a:solidFill>
                <a:latin typeface="DM Sans"/>
                <a:ea typeface="DM Sans"/>
                <a:cs typeface="DM Sans"/>
                <a:sym typeface="DM Sans"/>
              </a:rPr>
              <a:t>Li, M., Yang, J. E., Fuchs, S., &amp; Aussems, S. (2026). Perturbing postural stability affects acoustic properties but not fluency of adult speech production during face-to-face interaction. </a:t>
            </a:r>
            <a:r>
              <a:rPr lang="en-US" sz="1800" i="true">
                <a:solidFill>
                  <a:srgbClr val="002B58"/>
                </a:solidFill>
                <a:latin typeface="DM Sans Italics"/>
                <a:ea typeface="DM Sans Italics"/>
                <a:cs typeface="DM Sans Italics"/>
                <a:sym typeface="DM Sans Italics"/>
              </a:rPr>
              <a:t>The Journal of the Acoustical Society of America</a:t>
            </a:r>
            <a:r>
              <a:rPr lang="en-US" sz="1800">
                <a:solidFill>
                  <a:srgbClr val="002B58"/>
                </a:solidFill>
                <a:latin typeface="DM Sans"/>
                <a:ea typeface="DM Sans"/>
                <a:cs typeface="DM Sans"/>
                <a:sym typeface="DM Sans"/>
              </a:rPr>
              <a:t>, 159(6), 5491–5503. </a:t>
            </a:r>
          </a:p>
          <a:p>
            <a:pPr algn="just">
              <a:lnSpc>
                <a:spcPts val="2520"/>
              </a:lnSpc>
            </a:pPr>
          </a:p>
          <a:p>
            <a:pPr algn="just">
              <a:lnSpc>
                <a:spcPts val="2520"/>
              </a:lnSpc>
            </a:pPr>
            <a:r>
              <a:rPr lang="en-US" sz="1800">
                <a:solidFill>
                  <a:srgbClr val="002B58"/>
                </a:solidFill>
                <a:latin typeface="DM Sans"/>
                <a:ea typeface="DM Sans"/>
                <a:cs typeface="DM Sans"/>
                <a:sym typeface="DM Sans"/>
              </a:rPr>
              <a:t>Schlager, S., Kostunov, J., Henn, D., Stark, B. G., &amp; Iblher, N. (2019). A 3D Morphometrical Evaluation of Brow Position After Standardized Botulinum Toxin A Treatment of the Forehead and Glabella. </a:t>
            </a:r>
            <a:r>
              <a:rPr lang="en-US" sz="1800" i="true">
                <a:solidFill>
                  <a:srgbClr val="002B58"/>
                </a:solidFill>
                <a:latin typeface="DM Sans Italics"/>
                <a:ea typeface="DM Sans Italics"/>
                <a:cs typeface="DM Sans Italics"/>
                <a:sym typeface="DM Sans Italics"/>
              </a:rPr>
              <a:t>Aesthetic Surgery Journal</a:t>
            </a:r>
            <a:r>
              <a:rPr lang="en-US" sz="1800">
                <a:solidFill>
                  <a:srgbClr val="002B58"/>
                </a:solidFill>
                <a:latin typeface="DM Sans"/>
                <a:ea typeface="DM Sans"/>
                <a:cs typeface="DM Sans"/>
                <a:sym typeface="DM Sans"/>
              </a:rPr>
              <a:t>, 39(5), 553–564. </a:t>
            </a:r>
          </a:p>
          <a:p>
            <a:pPr algn="just">
              <a:lnSpc>
                <a:spcPts val="2520"/>
              </a:lnSpc>
            </a:pPr>
          </a:p>
          <a:p>
            <a:pPr algn="just">
              <a:lnSpc>
                <a:spcPts val="2520"/>
              </a:lnSpc>
            </a:pPr>
            <a:r>
              <a:rPr lang="en-US" sz="1800">
                <a:solidFill>
                  <a:srgbClr val="002B58"/>
                </a:solidFill>
                <a:latin typeface="DM Sans"/>
                <a:ea typeface="DM Sans"/>
                <a:cs typeface="DM Sans"/>
                <a:sym typeface="DM Sans"/>
              </a:rPr>
              <a:t>Tesio, L., &amp; Rota, V. (2019). The Motion of Body Center of Mass During Walking: A Review Oriented to Clinical Applications. </a:t>
            </a:r>
            <a:r>
              <a:rPr lang="en-US" sz="1800" i="true">
                <a:solidFill>
                  <a:srgbClr val="002B58"/>
                </a:solidFill>
                <a:latin typeface="DM Sans Italics"/>
                <a:ea typeface="DM Sans Italics"/>
                <a:cs typeface="DM Sans Italics"/>
                <a:sym typeface="DM Sans Italics"/>
              </a:rPr>
              <a:t>Frontiers in Neurology</a:t>
            </a:r>
            <a:r>
              <a:rPr lang="en-US" sz="1800">
                <a:solidFill>
                  <a:srgbClr val="002B58"/>
                </a:solidFill>
                <a:latin typeface="DM Sans"/>
                <a:ea typeface="DM Sans"/>
                <a:cs typeface="DM Sans"/>
                <a:sym typeface="DM Sans"/>
              </a:rPr>
              <a:t>, 10, 999. </a:t>
            </a:r>
          </a:p>
          <a:p>
            <a:pPr algn="just">
              <a:lnSpc>
                <a:spcPts val="2520"/>
              </a:lnSpc>
            </a:pPr>
          </a:p>
          <a:p>
            <a:pPr algn="just">
              <a:lnSpc>
                <a:spcPts val="2520"/>
              </a:lnSpc>
            </a:pPr>
            <a:r>
              <a:rPr lang="en-US" sz="1800">
                <a:solidFill>
                  <a:srgbClr val="002B58"/>
                </a:solidFill>
                <a:latin typeface="DM Sans"/>
                <a:ea typeface="DM Sans"/>
                <a:cs typeface="DM Sans"/>
                <a:sym typeface="DM Sans"/>
              </a:rPr>
              <a:t>Zsiga, E. (2014). Sound recordings: acoustic and articulatory data. In R. J. Podesva &amp; D. Sharma (Eds.), </a:t>
            </a:r>
            <a:r>
              <a:rPr lang="en-US" sz="1800" i="true">
                <a:solidFill>
                  <a:srgbClr val="002B58"/>
                </a:solidFill>
                <a:latin typeface="DM Sans Italics"/>
                <a:ea typeface="DM Sans Italics"/>
                <a:cs typeface="DM Sans Italics"/>
                <a:sym typeface="DM Sans Italics"/>
              </a:rPr>
              <a:t>Research Methods in Linguistics </a:t>
            </a:r>
            <a:r>
              <a:rPr lang="en-US" sz="1800">
                <a:solidFill>
                  <a:srgbClr val="002B58"/>
                </a:solidFill>
                <a:latin typeface="DM Sans"/>
                <a:ea typeface="DM Sans"/>
                <a:cs typeface="DM Sans"/>
                <a:sym typeface="DM Sans"/>
              </a:rPr>
              <a:t>(pp. 169–194). chapter 9, Cambridge: Cambridge University Press.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3690340" y="461890"/>
            <a:ext cx="10907320" cy="1203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800"/>
              </a:lnSpc>
            </a:pPr>
            <a:r>
              <a:rPr lang="en-US" b="true" sz="7000">
                <a:solidFill>
                  <a:srgbClr val="002B58"/>
                </a:solidFill>
                <a:latin typeface="Readex Pro Semi-Bold"/>
                <a:ea typeface="Readex Pro Semi-Bold"/>
                <a:cs typeface="Readex Pro Semi-Bold"/>
                <a:sym typeface="Readex Pro Semi-Bold"/>
              </a:rPr>
              <a:t>REFERENCES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true" rot="0">
            <a:off x="-1014412" y="-304800"/>
            <a:ext cx="5448300" cy="5448300"/>
          </a:xfrm>
          <a:custGeom>
            <a:avLst/>
            <a:gdLst/>
            <a:ahLst/>
            <a:cxnLst/>
            <a:rect r="r" b="b" t="t" l="l"/>
            <a:pathLst>
              <a:path h="5448300" w="5448300">
                <a:moveTo>
                  <a:pt x="0" y="5448300"/>
                </a:moveTo>
                <a:lnTo>
                  <a:pt x="5448300" y="5448300"/>
                </a:lnTo>
                <a:lnTo>
                  <a:pt x="5448300" y="0"/>
                </a:lnTo>
                <a:lnTo>
                  <a:pt x="0" y="0"/>
                </a:lnTo>
                <a:lnTo>
                  <a:pt x="0" y="54483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13854112" y="5143500"/>
            <a:ext cx="5448300" cy="5448300"/>
          </a:xfrm>
          <a:custGeom>
            <a:avLst/>
            <a:gdLst/>
            <a:ahLst/>
            <a:cxnLst/>
            <a:rect r="r" b="b" t="t" l="l"/>
            <a:pathLst>
              <a:path h="5448300" w="5448300">
                <a:moveTo>
                  <a:pt x="5448300" y="0"/>
                </a:moveTo>
                <a:lnTo>
                  <a:pt x="0" y="0"/>
                </a:lnTo>
                <a:lnTo>
                  <a:pt x="0" y="5448300"/>
                </a:lnTo>
                <a:lnTo>
                  <a:pt x="5448300" y="5448300"/>
                </a:lnTo>
                <a:lnTo>
                  <a:pt x="544830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610206" y="7472290"/>
            <a:ext cx="836989" cy="2209944"/>
          </a:xfrm>
          <a:custGeom>
            <a:avLst/>
            <a:gdLst/>
            <a:ahLst/>
            <a:cxnLst/>
            <a:rect r="r" b="b" t="t" l="l"/>
            <a:pathLst>
              <a:path h="2209944" w="836989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6840806" y="604765"/>
            <a:ext cx="836989" cy="2209944"/>
          </a:xfrm>
          <a:custGeom>
            <a:avLst/>
            <a:gdLst/>
            <a:ahLst/>
            <a:cxnLst/>
            <a:rect r="r" b="b" t="t" l="l"/>
            <a:pathLst>
              <a:path h="2209944" w="836989">
                <a:moveTo>
                  <a:pt x="0" y="0"/>
                </a:moveTo>
                <a:lnTo>
                  <a:pt x="836988" y="0"/>
                </a:lnTo>
                <a:lnTo>
                  <a:pt x="836988" y="2209945"/>
                </a:lnTo>
                <a:lnTo>
                  <a:pt x="0" y="220994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470972" y="3812072"/>
            <a:ext cx="13346055" cy="28724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086"/>
              </a:lnSpc>
            </a:pPr>
            <a:r>
              <a:rPr lang="en-US" b="true" sz="11086">
                <a:solidFill>
                  <a:srgbClr val="002B58"/>
                </a:solidFill>
                <a:latin typeface="Readex Pro Semi-Bold"/>
                <a:ea typeface="Readex Pro Semi-Bold"/>
                <a:cs typeface="Readex Pro Semi-Bold"/>
                <a:sym typeface="Readex Pro Semi-Bold"/>
              </a:rPr>
              <a:t>THANK</a:t>
            </a:r>
          </a:p>
          <a:p>
            <a:pPr algn="ctr">
              <a:lnSpc>
                <a:spcPts val="11086"/>
              </a:lnSpc>
            </a:pPr>
            <a:r>
              <a:rPr lang="en-US" b="true" sz="11086">
                <a:solidFill>
                  <a:srgbClr val="002B58"/>
                </a:solidFill>
                <a:latin typeface="Readex Pro Semi-Bold"/>
                <a:ea typeface="Readex Pro Semi-Bold"/>
                <a:cs typeface="Readex Pro Semi-Bold"/>
                <a:sym typeface="Readex Pro Semi-Bold"/>
              </a:rPr>
              <a:t>YOU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12675437" y="7119004"/>
            <a:ext cx="2563230" cy="2563230"/>
          </a:xfrm>
          <a:custGeom>
            <a:avLst/>
            <a:gdLst/>
            <a:ahLst/>
            <a:cxnLst/>
            <a:rect r="r" b="b" t="t" l="l"/>
            <a:pathLst>
              <a:path h="2563230" w="2563230">
                <a:moveTo>
                  <a:pt x="0" y="0"/>
                </a:moveTo>
                <a:lnTo>
                  <a:pt x="2563230" y="0"/>
                </a:lnTo>
                <a:lnTo>
                  <a:pt x="2563230" y="2563231"/>
                </a:lnTo>
                <a:lnTo>
                  <a:pt x="0" y="25632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true" flipV="false" rot="-6103867">
            <a:off x="10880901" y="6545496"/>
            <a:ext cx="1377691" cy="2456667"/>
          </a:xfrm>
          <a:custGeom>
            <a:avLst/>
            <a:gdLst/>
            <a:ahLst/>
            <a:cxnLst/>
            <a:rect r="r" b="b" t="t" l="l"/>
            <a:pathLst>
              <a:path h="2456667" w="1377691">
                <a:moveTo>
                  <a:pt x="1377691" y="0"/>
                </a:moveTo>
                <a:lnTo>
                  <a:pt x="0" y="0"/>
                </a:lnTo>
                <a:lnTo>
                  <a:pt x="0" y="2456667"/>
                </a:lnTo>
                <a:lnTo>
                  <a:pt x="1377691" y="2456667"/>
                </a:lnTo>
                <a:lnTo>
                  <a:pt x="1377691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8628899" y="8650405"/>
            <a:ext cx="3006550" cy="4067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27"/>
              </a:lnSpc>
            </a:pPr>
            <a:r>
              <a:rPr lang="en-US" sz="2376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our repository (again)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DAHPjpOy1QY</dc:identifier>
  <dcterms:modified xsi:type="dcterms:W3CDTF">2011-08-01T06:04:30Z</dcterms:modified>
  <cp:revision>1</cp:revision>
  <dc:title>Raised Expectations</dc:title>
</cp:coreProperties>
</file>