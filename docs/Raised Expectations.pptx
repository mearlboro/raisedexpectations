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 Bold" charset="1" panose="020B0803030501040103"/>
      <p:regular r:id="rId21"/>
    </p:embeddedFont>
    <p:embeddedFont>
      <p:font typeface="DM Sans" charset="1" panose="00000000000000000000"/>
      <p:regular r:id="rId22"/>
    </p:embeddedFont>
    <p:embeddedFont>
      <p:font typeface="Readex Pro Semi-Bold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DM Sans Italics" charset="1" panose="00000000000000000000"/>
      <p:regular r:id="rId25"/>
    </p:embeddedFont>
    <p:embeddedFont>
      <p:font typeface="Canva Sans" charset="1" panose="020B0503030501040103"/>
      <p:regular r:id="rId26"/>
    </p:embeddedFont>
    <p:embeddedFont>
      <p:font typeface="Canva Sans Italics" charset="1" panose="020B05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5.jpeg" Type="http://schemas.openxmlformats.org/officeDocument/2006/relationships/image"/><Relationship Id="rId7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7.jpeg" Type="http://schemas.openxmlformats.org/officeDocument/2006/relationships/image"/><Relationship Id="rId7" Target="../media/image1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2.jpeg" Type="http://schemas.openxmlformats.org/officeDocument/2006/relationships/image"/><Relationship Id="rId7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D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1306" y="3767459"/>
            <a:ext cx="115064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Raised Expectations</a:t>
            </a:r>
          </a:p>
        </p:txBody>
      </p:sp>
      <p:sp>
        <p:nvSpPr>
          <p:cNvPr name="AutoShape 3" id="3"/>
          <p:cNvSpPr/>
          <p:nvPr/>
        </p:nvSpPr>
        <p:spPr>
          <a:xfrm>
            <a:off x="3480105" y="4755518"/>
            <a:ext cx="4222454" cy="0"/>
          </a:xfrm>
          <a:prstGeom prst="line">
            <a:avLst/>
          </a:prstGeom>
          <a:ln cap="flat" w="238125">
            <a:solidFill>
              <a:srgbClr val="F9C2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484315" y="5998854"/>
            <a:ext cx="3667052" cy="3667052"/>
          </a:xfrm>
          <a:custGeom>
            <a:avLst/>
            <a:gdLst/>
            <a:ahLst/>
            <a:cxnLst/>
            <a:rect r="r" b="b" t="t" l="l"/>
            <a:pathLst>
              <a:path h="3667052" w="3667052">
                <a:moveTo>
                  <a:pt x="0" y="0"/>
                </a:moveTo>
                <a:lnTo>
                  <a:pt x="3667052" y="0"/>
                </a:lnTo>
                <a:lnTo>
                  <a:pt x="3667052" y="3667052"/>
                </a:lnTo>
                <a:lnTo>
                  <a:pt x="0" y="3667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6103867">
            <a:off x="10916985" y="5178373"/>
            <a:ext cx="1970975" cy="3514599"/>
          </a:xfrm>
          <a:custGeom>
            <a:avLst/>
            <a:gdLst/>
            <a:ahLst/>
            <a:cxnLst/>
            <a:rect r="r" b="b" t="t" l="l"/>
            <a:pathLst>
              <a:path h="3514599" w="1970975">
                <a:moveTo>
                  <a:pt x="1970975" y="0"/>
                </a:moveTo>
                <a:lnTo>
                  <a:pt x="0" y="0"/>
                </a:lnTo>
                <a:lnTo>
                  <a:pt x="0" y="3514598"/>
                </a:lnTo>
                <a:lnTo>
                  <a:pt x="1970975" y="3514598"/>
                </a:lnTo>
                <a:lnTo>
                  <a:pt x="197097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3210" y="4781547"/>
            <a:ext cx="7361337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Manage your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32111" y="8191193"/>
            <a:ext cx="282743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our repository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9204" y="3481853"/>
            <a:ext cx="12349593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The social dynamic examined was interpersonal communication in situations of reduced biomechanical stability, which is both societally and scientifically significant.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Most previous research on aspects of vocal production have been in stable lab environments, often in seated positions (Zsiga, 2014). However, this doesn’t consider that humans are often not stationary.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Movement, such as walking, can have an impact on aspects of the voice, such as pitch and rhythm (e.g., Anikin, 2023; Chiu et al., 2026). 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When the body is moving, several biological mechanisms are employed in order to keep the body upright, with the body’s centre of gravity constantly shifting as the body moves (Tesio &amp; Rota, 2019).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0340" y="1566862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RESEARCH FRAMING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9204" y="3481853"/>
            <a:ext cx="12349593" cy="699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In English, pitch plays important prosodic signalling functions at both the word level (e.g. stress) and the sentence level (e.g. intonation and information structure). 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There is evidence that eyebrow raises may serve a similar prosodic function in the visual domain, marking prominence and conveying communicative functions such as turn-taking (Cavé, Guaïtella &amp; Santi, 2002).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Perception research suggests that when pitch information provides conflicting cues to prominence, people will use eyebrow information to infer the location of prominence (Krahmer et al., 2002).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Still unclear exactly how well coordinated pitch and eyebrow movements are, and how eyebrow movements may coordinate between interlocutors.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792406" y="1709738"/>
            <a:ext cx="4926440" cy="835030"/>
          </a:xfrm>
          <a:custGeom>
            <a:avLst/>
            <a:gdLst/>
            <a:ahLst/>
            <a:cxnLst/>
            <a:rect r="r" b="b" t="t" l="l"/>
            <a:pathLst>
              <a:path h="835030" w="4926440">
                <a:moveTo>
                  <a:pt x="0" y="0"/>
                </a:moveTo>
                <a:lnTo>
                  <a:pt x="4926440" y="0"/>
                </a:lnTo>
                <a:lnTo>
                  <a:pt x="4926440" y="835030"/>
                </a:lnTo>
                <a:lnTo>
                  <a:pt x="0" y="8350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10206" y="705252"/>
            <a:ext cx="10907320" cy="244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WHY PITCH AND EYEBROWS?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825623" y="4369462"/>
            <a:ext cx="817798" cy="908664"/>
          </a:xfrm>
          <a:custGeom>
            <a:avLst/>
            <a:gdLst/>
            <a:ahLst/>
            <a:cxnLst/>
            <a:rect r="r" b="b" t="t" l="l"/>
            <a:pathLst>
              <a:path h="908664" w="817798">
                <a:moveTo>
                  <a:pt x="0" y="0"/>
                </a:moveTo>
                <a:lnTo>
                  <a:pt x="817798" y="0"/>
                </a:lnTo>
                <a:lnTo>
                  <a:pt x="817798" y="908664"/>
                </a:lnTo>
                <a:lnTo>
                  <a:pt x="0" y="908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93847" y="4150694"/>
            <a:ext cx="1146853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Q1:  What is the relationship between pitch and eyebrow movements?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Q1.2: How does this relationship change, if at all, when the bodily center of gravity is perturbed?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0340" y="2380057"/>
            <a:ext cx="1090732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RESEARCH QUESTIONS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825623" y="6563626"/>
            <a:ext cx="817798" cy="908664"/>
          </a:xfrm>
          <a:custGeom>
            <a:avLst/>
            <a:gdLst/>
            <a:ahLst/>
            <a:cxnLst/>
            <a:rect r="r" b="b" t="t" l="l"/>
            <a:pathLst>
              <a:path h="908664" w="817798">
                <a:moveTo>
                  <a:pt x="0" y="0"/>
                </a:moveTo>
                <a:lnTo>
                  <a:pt x="817798" y="0"/>
                </a:lnTo>
                <a:lnTo>
                  <a:pt x="817798" y="908664"/>
                </a:lnTo>
                <a:lnTo>
                  <a:pt x="0" y="9086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93847" y="6130925"/>
            <a:ext cx="1146853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RQ2: What is the nature of the eyebrow synchrony between the clue giver and guesser?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RQ2.2: How is this changed, if at all, when the bodily centre of gravity is perturbed?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969204" y="3618751"/>
            <a:ext cx="12349593" cy="1057096"/>
            <a:chOff x="0" y="0"/>
            <a:chExt cx="3252568" cy="2784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52568" cy="278412"/>
            </a:xfrm>
            <a:custGeom>
              <a:avLst/>
              <a:gdLst/>
              <a:ahLst/>
              <a:cxnLst/>
              <a:rect r="r" b="b" t="t" l="l"/>
              <a:pathLst>
                <a:path h="278412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278412"/>
                  </a:lnTo>
                  <a:lnTo>
                    <a:pt x="0" y="2784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252568" cy="31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969204" y="4990172"/>
            <a:ext cx="12349593" cy="1344299"/>
            <a:chOff x="0" y="0"/>
            <a:chExt cx="3252568" cy="3540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52568" cy="354054"/>
            </a:xfrm>
            <a:custGeom>
              <a:avLst/>
              <a:gdLst/>
              <a:ahLst/>
              <a:cxnLst/>
              <a:rect r="r" b="b" t="t" l="l"/>
              <a:pathLst>
                <a:path h="354054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354054"/>
                  </a:lnTo>
                  <a:lnTo>
                    <a:pt x="0" y="35405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52568" cy="392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69204" y="6672948"/>
            <a:ext cx="12349593" cy="1523405"/>
            <a:chOff x="0" y="0"/>
            <a:chExt cx="3252568" cy="4012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52568" cy="401226"/>
            </a:xfrm>
            <a:custGeom>
              <a:avLst/>
              <a:gdLst/>
              <a:ahLst/>
              <a:cxnLst/>
              <a:rect r="r" b="b" t="t" l="l"/>
              <a:pathLst>
                <a:path h="401226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401226"/>
                  </a:lnTo>
                  <a:lnTo>
                    <a:pt x="0" y="40122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252568" cy="439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409735" y="3674071"/>
            <a:ext cx="11468530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Raised eyebrows are associated with higher pitch in the clue-giver when they are standing on the ground.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Under increased postural stability demands (the clue-giver is standing on the wobble board), the co-variation between eyebrow movement and pitch dynamics is distorted.</a:t>
            </a:r>
          </a:p>
          <a:p>
            <a:pPr algn="just">
              <a:lnSpc>
                <a:spcPts val="3499"/>
              </a:lnSpc>
            </a:pP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Higher mutual information in eyebrow movements between the clue giver and the guesser is associated with faster guessing times (higher task performance).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0340" y="2113954"/>
            <a:ext cx="1090732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HYPOTHESES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969204" y="2135460"/>
            <a:ext cx="12349593" cy="1213752"/>
            <a:chOff x="0" y="0"/>
            <a:chExt cx="3252568" cy="319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52568" cy="319671"/>
            </a:xfrm>
            <a:custGeom>
              <a:avLst/>
              <a:gdLst/>
              <a:ahLst/>
              <a:cxnLst/>
              <a:rect r="r" b="b" t="t" l="l"/>
              <a:pathLst>
                <a:path h="319671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319671"/>
                  </a:lnTo>
                  <a:lnTo>
                    <a:pt x="0" y="319671"/>
                  </a:lnTo>
                  <a:close/>
                </a:path>
              </a:pathLst>
            </a:custGeom>
            <a:solidFill>
              <a:srgbClr val="F9C2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52568" cy="35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5754549"/>
            <a:ext cx="2013154" cy="483157"/>
          </a:xfrm>
          <a:custGeom>
            <a:avLst/>
            <a:gdLst/>
            <a:ahLst/>
            <a:cxnLst/>
            <a:rect r="r" b="b" t="t" l="l"/>
            <a:pathLst>
              <a:path h="483157" w="2013154">
                <a:moveTo>
                  <a:pt x="0" y="0"/>
                </a:moveTo>
                <a:lnTo>
                  <a:pt x="2013154" y="0"/>
                </a:lnTo>
                <a:lnTo>
                  <a:pt x="2013154" y="483157"/>
                </a:lnTo>
                <a:lnTo>
                  <a:pt x="0" y="4831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68213" y="3734145"/>
            <a:ext cx="11850583" cy="543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8"/>
              </a:lnSpc>
            </a:pP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Two dyads (f=3, m=1, mean age= 19.5). </a:t>
            </a:r>
          </a:p>
          <a:p>
            <a:pPr algn="just">
              <a:lnSpc>
                <a:spcPts val="3358"/>
              </a:lnSpc>
            </a:pPr>
          </a:p>
          <a:p>
            <a:pPr algn="just">
              <a:lnSpc>
                <a:spcPts val="3358"/>
              </a:lnSpc>
            </a:pP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One target word (‘Birthday’)</a:t>
            </a:r>
          </a:p>
          <a:p>
            <a:pPr algn="just">
              <a:lnSpc>
                <a:spcPts val="3358"/>
              </a:lnSpc>
            </a:pPr>
          </a:p>
          <a:p>
            <a:pPr algn="just">
              <a:lnSpc>
                <a:spcPts val="3358"/>
              </a:lnSpc>
            </a:pPr>
            <a:r>
              <a:rPr lang="en-US" sz="2398" b="true">
                <a:solidFill>
                  <a:srgbClr val="002B58"/>
                </a:solidFill>
                <a:latin typeface="DM Sans Bold"/>
                <a:ea typeface="DM Sans Bold"/>
                <a:cs typeface="DM Sans Bold"/>
                <a:sym typeface="DM Sans Bold"/>
              </a:rPr>
              <a:t>Eyebrow</a:t>
            </a: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 - OpenFace data extracted from video data. Took the X and Y coordinates for the eyebrows (points 17-26) and the tip of the nose (point 33). </a:t>
            </a:r>
            <a:r>
              <a:rPr lang="en-US" sz="2398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Both guesser and cluegiver</a:t>
            </a:r>
          </a:p>
          <a:p>
            <a:pPr algn="just">
              <a:lnSpc>
                <a:spcPts val="3358"/>
              </a:lnSpc>
            </a:pPr>
          </a:p>
          <a:p>
            <a:pPr algn="just">
              <a:lnSpc>
                <a:spcPts val="3358"/>
              </a:lnSpc>
            </a:pPr>
            <a:r>
              <a:rPr lang="en-US" sz="2398" b="true">
                <a:solidFill>
                  <a:srgbClr val="002B58"/>
                </a:solidFill>
                <a:latin typeface="DM Sans Bold"/>
                <a:ea typeface="DM Sans Bold"/>
                <a:cs typeface="DM Sans Bold"/>
                <a:sym typeface="DM Sans Bold"/>
              </a:rPr>
              <a:t>Pitch</a:t>
            </a:r>
            <a:r>
              <a:rPr lang="en-US" sz="2398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 - Extracting fundamental frequency (f0) for audio files using the parselmouth library [@jadoul_etal18]. We used the Diarization data to split the f0 by speaker. This was the manually checked for the examples (for a larger analysis pipeline, we plan to use a multi speaker separation as this would allow potential extraction of pitch information when two speakers are speaking simultaneously. </a:t>
            </a:r>
            <a:r>
              <a:rPr lang="en-US" sz="2398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Cluegiver only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56050" y="7617354"/>
            <a:ext cx="2013154" cy="866124"/>
          </a:xfrm>
          <a:custGeom>
            <a:avLst/>
            <a:gdLst/>
            <a:ahLst/>
            <a:cxnLst/>
            <a:rect r="r" b="b" t="t" l="l"/>
            <a:pathLst>
              <a:path h="866124" w="2013154">
                <a:moveTo>
                  <a:pt x="0" y="0"/>
                </a:moveTo>
                <a:lnTo>
                  <a:pt x="2013154" y="0"/>
                </a:lnTo>
                <a:lnTo>
                  <a:pt x="2013154" y="866124"/>
                </a:lnTo>
                <a:lnTo>
                  <a:pt x="0" y="866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90340" y="499577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318566" y="2092045"/>
            <a:ext cx="11650868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BALANCE DATASET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0203" y="2908648"/>
            <a:ext cx="2089845" cy="34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(LI</a:t>
            </a:r>
            <a:r>
              <a:rPr lang="en-US" b="true" sz="2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 ET AL., 2026)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08110" y="4662760"/>
            <a:ext cx="12845671" cy="1174585"/>
            <a:chOff x="0" y="0"/>
            <a:chExt cx="3383222" cy="3093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3222" cy="309356"/>
            </a:xfrm>
            <a:custGeom>
              <a:avLst/>
              <a:gdLst/>
              <a:ahLst/>
              <a:cxnLst/>
              <a:rect r="r" b="b" t="t" l="l"/>
              <a:pathLst>
                <a:path h="309356" w="3383222">
                  <a:moveTo>
                    <a:pt x="0" y="0"/>
                  </a:moveTo>
                  <a:lnTo>
                    <a:pt x="3383222" y="0"/>
                  </a:lnTo>
                  <a:lnTo>
                    <a:pt x="3383222" y="309356"/>
                  </a:lnTo>
                  <a:lnTo>
                    <a:pt x="0" y="3093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383222" cy="347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969204" y="2867983"/>
            <a:ext cx="12349593" cy="1213752"/>
            <a:chOff x="0" y="0"/>
            <a:chExt cx="3252568" cy="3196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52568" cy="319671"/>
            </a:xfrm>
            <a:custGeom>
              <a:avLst/>
              <a:gdLst/>
              <a:ahLst/>
              <a:cxnLst/>
              <a:rect r="r" b="b" t="t" l="l"/>
              <a:pathLst>
                <a:path h="319671" w="3252568">
                  <a:moveTo>
                    <a:pt x="0" y="0"/>
                  </a:moveTo>
                  <a:lnTo>
                    <a:pt x="3252568" y="0"/>
                  </a:lnTo>
                  <a:lnTo>
                    <a:pt x="3252568" y="319671"/>
                  </a:lnTo>
                  <a:lnTo>
                    <a:pt x="0" y="319671"/>
                  </a:lnTo>
                  <a:close/>
                </a:path>
              </a:pathLst>
            </a:custGeom>
            <a:solidFill>
              <a:srgbClr val="F9C2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252568" cy="357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721164" y="7744295"/>
            <a:ext cx="12845671" cy="613236"/>
            <a:chOff x="0" y="0"/>
            <a:chExt cx="3383222" cy="1615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83222" cy="161511"/>
            </a:xfrm>
            <a:custGeom>
              <a:avLst/>
              <a:gdLst/>
              <a:ahLst/>
              <a:cxnLst/>
              <a:rect r="r" b="b" t="t" l="l"/>
              <a:pathLst>
                <a:path h="161511" w="3383222">
                  <a:moveTo>
                    <a:pt x="0" y="0"/>
                  </a:moveTo>
                  <a:lnTo>
                    <a:pt x="3383222" y="0"/>
                  </a:lnTo>
                  <a:lnTo>
                    <a:pt x="3383222" y="161511"/>
                  </a:lnTo>
                  <a:lnTo>
                    <a:pt x="0" y="16151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383222" cy="1996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721164" y="6027846"/>
            <a:ext cx="12845671" cy="1444445"/>
            <a:chOff x="0" y="0"/>
            <a:chExt cx="3383222" cy="3804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3222" cy="380430"/>
            </a:xfrm>
            <a:custGeom>
              <a:avLst/>
              <a:gdLst/>
              <a:ahLst/>
              <a:cxnLst/>
              <a:rect r="r" b="b" t="t" l="l"/>
              <a:pathLst>
                <a:path h="380430" w="3383222">
                  <a:moveTo>
                    <a:pt x="0" y="0"/>
                  </a:moveTo>
                  <a:lnTo>
                    <a:pt x="3383222" y="0"/>
                  </a:lnTo>
                  <a:lnTo>
                    <a:pt x="3383222" y="380430"/>
                  </a:lnTo>
                  <a:lnTo>
                    <a:pt x="0" y="38043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383222" cy="418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69204" y="4816475"/>
            <a:ext cx="12349593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Hypothesis 1: Linear and non-linear interaction measures: correlation, covariance, mutual information, time-delayed mutual information (JIDT + pySPI); WMS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Hypothesis 2: Cross-Recurrence Quantification Analysis with phase-space reconstruction to analyse coupling between eyebrow movement and pitch dynamics on an intrapersonal level.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Hypothesis 3: Multivariate mutual information applied to brow positions (JIDT)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90340" y="1313892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METHODOLOGY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318566" y="2925410"/>
            <a:ext cx="11650868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ANALYSIS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0997" y="2599180"/>
            <a:ext cx="7087394" cy="6474669"/>
          </a:xfrm>
          <a:custGeom>
            <a:avLst/>
            <a:gdLst/>
            <a:ahLst/>
            <a:cxnLst/>
            <a:rect r="r" b="b" t="t" l="l"/>
            <a:pathLst>
              <a:path h="6474669" w="7087394">
                <a:moveTo>
                  <a:pt x="0" y="0"/>
                </a:moveTo>
                <a:lnTo>
                  <a:pt x="7087394" y="0"/>
                </a:lnTo>
                <a:lnTo>
                  <a:pt x="7087394" y="6474669"/>
                </a:lnTo>
                <a:lnTo>
                  <a:pt x="0" y="64746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385091" y="2814710"/>
            <a:ext cx="7193171" cy="5394878"/>
          </a:xfrm>
          <a:custGeom>
            <a:avLst/>
            <a:gdLst/>
            <a:ahLst/>
            <a:cxnLst/>
            <a:rect r="r" b="b" t="t" l="l"/>
            <a:pathLst>
              <a:path h="5394878" w="7193171">
                <a:moveTo>
                  <a:pt x="0" y="0"/>
                </a:moveTo>
                <a:lnTo>
                  <a:pt x="7193171" y="0"/>
                </a:lnTo>
                <a:lnTo>
                  <a:pt x="7193171" y="5394878"/>
                </a:lnTo>
                <a:lnTo>
                  <a:pt x="0" y="5394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2752" y="770644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TIME-DELAYED MUTUAL INFORMATION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84095" y="1742929"/>
            <a:ext cx="9719811" cy="3887924"/>
          </a:xfrm>
          <a:custGeom>
            <a:avLst/>
            <a:gdLst/>
            <a:ahLst/>
            <a:cxnLst/>
            <a:rect r="r" b="b" t="t" l="l"/>
            <a:pathLst>
              <a:path h="3887924" w="9719811">
                <a:moveTo>
                  <a:pt x="0" y="0"/>
                </a:moveTo>
                <a:lnTo>
                  <a:pt x="9719810" y="0"/>
                </a:lnTo>
                <a:lnTo>
                  <a:pt x="9719810" y="3887924"/>
                </a:lnTo>
                <a:lnTo>
                  <a:pt x="0" y="3887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4095" y="5926128"/>
            <a:ext cx="9719811" cy="3887924"/>
          </a:xfrm>
          <a:custGeom>
            <a:avLst/>
            <a:gdLst/>
            <a:ahLst/>
            <a:cxnLst/>
            <a:rect r="r" b="b" t="t" l="l"/>
            <a:pathLst>
              <a:path h="3887924" w="9719811">
                <a:moveTo>
                  <a:pt x="0" y="0"/>
                </a:moveTo>
                <a:lnTo>
                  <a:pt x="9719810" y="0"/>
                </a:lnTo>
                <a:lnTo>
                  <a:pt x="9719810" y="3887924"/>
                </a:lnTo>
                <a:lnTo>
                  <a:pt x="0" y="38879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22752" y="770644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WINDOWED MULTISCALE SYNCHRONY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47582" y="1709737"/>
            <a:ext cx="6440024" cy="6149933"/>
          </a:xfrm>
          <a:custGeom>
            <a:avLst/>
            <a:gdLst/>
            <a:ahLst/>
            <a:cxnLst/>
            <a:rect r="r" b="b" t="t" l="l"/>
            <a:pathLst>
              <a:path h="6149933" w="6440024">
                <a:moveTo>
                  <a:pt x="0" y="0"/>
                </a:moveTo>
                <a:lnTo>
                  <a:pt x="6440024" y="0"/>
                </a:lnTo>
                <a:lnTo>
                  <a:pt x="6440024" y="6149934"/>
                </a:lnTo>
                <a:lnTo>
                  <a:pt x="0" y="6149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46826" y="1709738"/>
            <a:ext cx="6440024" cy="6149933"/>
          </a:xfrm>
          <a:custGeom>
            <a:avLst/>
            <a:gdLst/>
            <a:ahLst/>
            <a:cxnLst/>
            <a:rect r="r" b="b" t="t" l="l"/>
            <a:pathLst>
              <a:path h="6149933" w="6440024">
                <a:moveTo>
                  <a:pt x="0" y="0"/>
                </a:moveTo>
                <a:lnTo>
                  <a:pt x="6440024" y="0"/>
                </a:lnTo>
                <a:lnTo>
                  <a:pt x="6440024" y="6149933"/>
                </a:lnTo>
                <a:lnTo>
                  <a:pt x="0" y="61499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32964" y="7984468"/>
            <a:ext cx="12888723" cy="1554702"/>
          </a:xfrm>
          <a:custGeom>
            <a:avLst/>
            <a:gdLst/>
            <a:ahLst/>
            <a:cxnLst/>
            <a:rect r="r" b="b" t="t" l="l"/>
            <a:pathLst>
              <a:path h="1554702" w="12888723">
                <a:moveTo>
                  <a:pt x="0" y="0"/>
                </a:moveTo>
                <a:lnTo>
                  <a:pt x="12888722" y="0"/>
                </a:lnTo>
                <a:lnTo>
                  <a:pt x="12888722" y="1554702"/>
                </a:lnTo>
                <a:lnTo>
                  <a:pt x="0" y="15547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923988" y="7996120"/>
            <a:ext cx="5830630" cy="1543050"/>
            <a:chOff x="0" y="0"/>
            <a:chExt cx="153563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35639" cy="406400"/>
            </a:xfrm>
            <a:custGeom>
              <a:avLst/>
              <a:gdLst/>
              <a:ahLst/>
              <a:cxnLst/>
              <a:rect r="r" b="b" t="t" l="l"/>
              <a:pathLst>
                <a:path h="406400" w="1535639">
                  <a:moveTo>
                    <a:pt x="0" y="0"/>
                  </a:moveTo>
                  <a:lnTo>
                    <a:pt x="1535639" y="0"/>
                  </a:lnTo>
                  <a:lnTo>
                    <a:pt x="1535639" y="406400"/>
                  </a:lnTo>
                  <a:lnTo>
                    <a:pt x="0" y="406400"/>
                  </a:lnTo>
                  <a:close/>
                </a:path>
              </a:pathLst>
            </a:custGeom>
            <a:ln w="38100" cap="sq">
              <a:solidFill>
                <a:srgbClr val="4A6FA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3563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22752" y="770644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CROSS-RECURRENCE QUANTIFICATION ANALAYSIS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739" y="3502938"/>
            <a:ext cx="219012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002B58"/>
                </a:solidFill>
                <a:latin typeface="Canva Sans"/>
                <a:ea typeface="Canva Sans"/>
                <a:cs typeface="Canva Sans"/>
                <a:sym typeface="Canva Sans"/>
              </a:rPr>
              <a:t>CRQA parameters 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 strike="noStrike" u="none">
                <a:solidFill>
                  <a:srgbClr val="002B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delay = 56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 strike="noStrike" u="none">
                <a:solidFill>
                  <a:srgbClr val="002B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embed = 8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i="true" strike="noStrike" u="none">
                <a:solidFill>
                  <a:srgbClr val="002B58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radius = 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52489" y="3541038"/>
            <a:ext cx="2285470" cy="2731428"/>
            <a:chOff x="0" y="0"/>
            <a:chExt cx="601934" cy="7193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1934" cy="719388"/>
            </a:xfrm>
            <a:custGeom>
              <a:avLst/>
              <a:gdLst/>
              <a:ahLst/>
              <a:cxnLst/>
              <a:rect r="r" b="b" t="t" l="l"/>
              <a:pathLst>
                <a:path h="719388" w="601934">
                  <a:moveTo>
                    <a:pt x="0" y="0"/>
                  </a:moveTo>
                  <a:lnTo>
                    <a:pt x="601934" y="0"/>
                  </a:lnTo>
                  <a:lnTo>
                    <a:pt x="601934" y="719388"/>
                  </a:lnTo>
                  <a:lnTo>
                    <a:pt x="0" y="719388"/>
                  </a:lnTo>
                  <a:close/>
                </a:path>
              </a:pathLst>
            </a:custGeom>
            <a:ln w="38100" cap="sq">
              <a:solidFill>
                <a:srgbClr val="4A6FA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1934" cy="757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76225" y="2173238"/>
            <a:ext cx="6706101" cy="6404025"/>
          </a:xfrm>
          <a:custGeom>
            <a:avLst/>
            <a:gdLst/>
            <a:ahLst/>
            <a:cxnLst/>
            <a:rect r="r" b="b" t="t" l="l"/>
            <a:pathLst>
              <a:path h="6404025" w="6706101">
                <a:moveTo>
                  <a:pt x="0" y="0"/>
                </a:moveTo>
                <a:lnTo>
                  <a:pt x="6706101" y="0"/>
                </a:lnTo>
                <a:lnTo>
                  <a:pt x="6706101" y="6404024"/>
                </a:lnTo>
                <a:lnTo>
                  <a:pt x="0" y="64040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10951" y="2173238"/>
            <a:ext cx="6706101" cy="6404025"/>
          </a:xfrm>
          <a:custGeom>
            <a:avLst/>
            <a:gdLst/>
            <a:ahLst/>
            <a:cxnLst/>
            <a:rect r="r" b="b" t="t" l="l"/>
            <a:pathLst>
              <a:path h="6404025" w="6706101">
                <a:moveTo>
                  <a:pt x="0" y="0"/>
                </a:moveTo>
                <a:lnTo>
                  <a:pt x="6706101" y="0"/>
                </a:lnTo>
                <a:lnTo>
                  <a:pt x="6706101" y="6404024"/>
                </a:lnTo>
                <a:lnTo>
                  <a:pt x="0" y="64040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56072" y="952500"/>
            <a:ext cx="156032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DIAGONAL CROSS-RECURRENCE PROFILE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9204" y="5161195"/>
            <a:ext cx="12349593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Number of datapoints is not the same for all trials in the dataset (and not many datapoints at that)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Head gear - presence of helmet can restrict eyebrow and facial movements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0340" y="3246205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LIMITATIONS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9204" y="4290486"/>
            <a:ext cx="12349593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Botulinum Toxin (e.g., Botox) and other muscular argumentation.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Eyebrows in particular susceptible to freezing and reduced movement due as a result of popular aesthetic procedures (Schlager et al., 2019)</a:t>
            </a:r>
          </a:p>
          <a:p>
            <a:pPr algn="l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Extracting accurate eyebrow movement in moving head systems. Accounting for head roll, etc.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Include pitch for guesser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Both interlocutors in unstable settings. same board, different 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0340" y="1488014"/>
            <a:ext cx="10907320" cy="244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CHALLENGES AND FUTURE DIRECTIONS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4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0"/>
                </a:moveTo>
                <a:lnTo>
                  <a:pt x="5448300" y="0"/>
                </a:lnTo>
                <a:lnTo>
                  <a:pt x="5448300" y="5448300"/>
                </a:lnTo>
                <a:lnTo>
                  <a:pt x="0" y="544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8541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5448300"/>
                </a:moveTo>
                <a:lnTo>
                  <a:pt x="0" y="5448300"/>
                </a:lnTo>
                <a:lnTo>
                  <a:pt x="0" y="0"/>
                </a:lnTo>
                <a:lnTo>
                  <a:pt x="5448300" y="0"/>
                </a:lnTo>
                <a:lnTo>
                  <a:pt x="544830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99837" y="1797685"/>
            <a:ext cx="13688325" cy="722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Anikin, A. (2023). The honest sound of physical effort.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PeerJ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11, e14944.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Cavé, C., Guaïtella, I., &amp; Santi, S. (2002). Eyebrow movements and voice variations in dialogue situations: an experimental investigation. In INTERSPEECH (pp. 2353-2356).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Chiu, Y.-F., Longhurst, J. K., Fletcher, A. R., &amp; Loux, T. (2026). Voice changes during dual task walking in Parkinson’s disease.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Journal of Communication Disorders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119, 106615.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Krahmer, E. J., Ruttkay, Z., Swerts, M. G. J., &amp; Wesselink, W. (2002). Pitch, eyebrows and the perception of focus. In B. Bel, &amp; I. Marlien (Eds.),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Proceedings of the Speech Prosody 2002, Conference Aix-en-Provence, 11-13 April 20012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 (pp. 443-446). Laboratoire Parole et Langage.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Li, M., Yang, J. E., Fuchs, S., &amp; Aussems, S. (2026). Perturbing postural stability affects acoustic properties but not fluency of adult speech production during face-to-face interaction.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The Journal of the Acoustical Society of America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159(6), 5491–5503. 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Schlager, S., Kostunov, J., Henn, D., Stark, B. G., &amp; Iblher, N. (2019). A 3D Morphometrical Evaluation of Brow Position After Standardized Botulinum Toxin A Treatment of the Forehead and Glabella.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Aesthetic Surgery Journal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39(5), 553–564. 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Tesio, L., &amp; Rota, V. (2019). The Motion of Body Center of Mass During Walking: A Review Oriented to Clinical Applications.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Frontiers in Neurology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, 10, 999. </a:t>
            </a:r>
          </a:p>
          <a:p>
            <a:pPr algn="just">
              <a:lnSpc>
                <a:spcPts val="2520"/>
              </a:lnSpc>
            </a:pPr>
          </a:p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Zsiga, E. (2014). Sound recordings: acoustic and articulatory data. In R. J. Podesva &amp; D. Sharma (Eds.), </a:t>
            </a:r>
            <a:r>
              <a:rPr lang="en-US" sz="1800" i="true">
                <a:solidFill>
                  <a:srgbClr val="002B58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Research Methods in Linguistics </a:t>
            </a:r>
            <a:r>
              <a:rPr lang="en-US" sz="1800">
                <a:solidFill>
                  <a:srgbClr val="002B58"/>
                </a:solidFill>
                <a:latin typeface="DM Sans"/>
                <a:ea typeface="DM Sans"/>
                <a:cs typeface="DM Sans"/>
                <a:sym typeface="DM Sans"/>
              </a:rPr>
              <a:t>(pp. 169–194). chapter 9, Cambridge: Cambridge University Press.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0340" y="461890"/>
            <a:ext cx="1090732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REFERENCES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1014412" y="-3048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0" y="5448300"/>
                </a:moveTo>
                <a:lnTo>
                  <a:pt x="5448300" y="5448300"/>
                </a:lnTo>
                <a:lnTo>
                  <a:pt x="5448300" y="0"/>
                </a:lnTo>
                <a:lnTo>
                  <a:pt x="0" y="0"/>
                </a:lnTo>
                <a:lnTo>
                  <a:pt x="0" y="5448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54112" y="5143500"/>
            <a:ext cx="5448300" cy="5448300"/>
          </a:xfrm>
          <a:custGeom>
            <a:avLst/>
            <a:gdLst/>
            <a:ahLst/>
            <a:cxnLst/>
            <a:rect r="r" b="b" t="t" l="l"/>
            <a:pathLst>
              <a:path h="5448300" w="5448300">
                <a:moveTo>
                  <a:pt x="5448300" y="0"/>
                </a:moveTo>
                <a:lnTo>
                  <a:pt x="0" y="0"/>
                </a:lnTo>
                <a:lnTo>
                  <a:pt x="0" y="5448300"/>
                </a:lnTo>
                <a:lnTo>
                  <a:pt x="5448300" y="5448300"/>
                </a:lnTo>
                <a:lnTo>
                  <a:pt x="5448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0206" y="7472290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40806" y="604765"/>
            <a:ext cx="836989" cy="2209944"/>
          </a:xfrm>
          <a:custGeom>
            <a:avLst/>
            <a:gdLst/>
            <a:ahLst/>
            <a:cxnLst/>
            <a:rect r="r" b="b" t="t" l="l"/>
            <a:pathLst>
              <a:path h="2209944" w="836989">
                <a:moveTo>
                  <a:pt x="0" y="0"/>
                </a:moveTo>
                <a:lnTo>
                  <a:pt x="836988" y="0"/>
                </a:lnTo>
                <a:lnTo>
                  <a:pt x="836988" y="2209945"/>
                </a:lnTo>
                <a:lnTo>
                  <a:pt x="0" y="2209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70972" y="3812072"/>
            <a:ext cx="13346055" cy="287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86"/>
              </a:lnSpc>
            </a:pPr>
            <a:r>
              <a:rPr lang="en-US" b="true" sz="11086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THANK</a:t>
            </a:r>
          </a:p>
          <a:p>
            <a:pPr algn="ctr">
              <a:lnSpc>
                <a:spcPts val="11086"/>
              </a:lnSpc>
            </a:pPr>
            <a:r>
              <a:rPr lang="en-US" b="true" sz="11086">
                <a:solidFill>
                  <a:srgbClr val="002B58"/>
                </a:solidFill>
                <a:latin typeface="Readex Pro Semi-Bold"/>
                <a:ea typeface="Readex Pro Semi-Bold"/>
                <a:cs typeface="Readex Pro Semi-Bold"/>
                <a:sym typeface="Readex Pro Semi-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DAHPjpOy1QY</dc:identifier>
  <dcterms:modified xsi:type="dcterms:W3CDTF">2011-08-01T06:04:30Z</dcterms:modified>
  <cp:revision>1</cp:revision>
  <dc:title>Raised Expectations</dc:title>
</cp:coreProperties>
</file>